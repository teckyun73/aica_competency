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65" r:id="rId12"/>
    <p:sldId id="266" r:id="rId13"/>
    <p:sldId id="273" r:id="rId14"/>
    <p:sldId id="274" r:id="rId15"/>
    <p:sldId id="267" r:id="rId16"/>
    <p:sldId id="268" r:id="rId17"/>
    <p:sldId id="269" r:id="rId18"/>
    <p:sldId id="270" r:id="rId19"/>
    <p:sldId id="271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80D66-7E39-4BFF-8E2D-06995720C4C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4B801-25D1-431F-A261-B53C795C73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12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E6EF-F98F-946A-FD6E-793AC756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3BB1A5-31DF-7591-1A39-146EF2A10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BFA2CF-BEB3-3E44-CA60-F2D8FDCB4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98CA67-612D-9E19-CC21-3104F13B0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4B801-25D1-431F-A261-B53C795C732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407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ica-competency.web.app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38BDF8"/>
                </a:solidFill>
                <a:latin typeface="Noto Sans KR"/>
              </a:defRPr>
            </a:pPr>
            <a:r>
              <a:rPr dirty="0"/>
              <a:t>AICA · AI Certification for ATEC</a:t>
            </a:r>
          </a:p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자격심사</a:t>
            </a:r>
            <a:r>
              <a:rPr dirty="0"/>
              <a:t> </a:t>
            </a:r>
            <a:r>
              <a:rPr dirty="0" err="1"/>
              <a:t>시스템</a:t>
            </a:r>
            <a:br>
              <a:rPr dirty="0"/>
            </a:b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매뉴얼</a:t>
            </a:r>
            <a:endParaRPr dirty="0"/>
          </a:p>
          <a:p>
            <a:pPr>
              <a:defRPr sz="1800">
                <a:solidFill>
                  <a:srgbClr val="94A3B8"/>
                </a:solidFill>
                <a:latin typeface="Noto Sans KR"/>
              </a:defRPr>
            </a:pPr>
            <a:r>
              <a:rPr dirty="0" err="1"/>
              <a:t>운영간사</a:t>
            </a:r>
            <a:r>
              <a:rPr dirty="0"/>
              <a:t> · </a:t>
            </a:r>
            <a:r>
              <a:rPr dirty="0" err="1"/>
              <a:t>심사위원용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0"/>
            <a:ext cx="248497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Noto Sans KR"/>
              </a:defRPr>
            </a:pPr>
            <a:r>
              <a:rPr dirty="0"/>
              <a:t>2026. 07</a:t>
            </a:r>
            <a:br>
              <a:rPr dirty="0"/>
            </a:br>
            <a:r>
              <a:rPr dirty="0">
                <a:solidFill>
                  <a:srgbClr val="94A3B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https://aica-competency.web.app/</a:t>
            </a:r>
            <a:endParaRPr dirty="0">
              <a:solidFill>
                <a:srgbClr val="94A3B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0" y="1204486"/>
            <a:ext cx="4114800" cy="473911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0" y="1123875"/>
            <a:ext cx="3749039" cy="4244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250000"/>
              </a:lnSpc>
              <a:spcAft>
                <a:spcPts val="3000"/>
              </a:spcAft>
              <a:defRPr sz="2800" b="1">
                <a:solidFill>
                  <a:srgbClr val="FFFFFF"/>
                </a:solidFill>
                <a:latin typeface="Noto Sans KR"/>
              </a:defRPr>
            </a:pPr>
            <a:r>
              <a:rPr sz="3200" spc="600" dirty="0"/>
              <a:t>AICA</a:t>
            </a:r>
          </a:p>
          <a:p>
            <a:pPr algn="ctr">
              <a:lnSpc>
                <a:spcPct val="250000"/>
              </a:lnSpc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rPr sz="2000" dirty="0" err="1"/>
              <a:t>공정한</a:t>
            </a:r>
            <a:r>
              <a:rPr sz="2000" dirty="0"/>
              <a:t> 3인 </a:t>
            </a:r>
            <a:r>
              <a:rPr sz="2000" dirty="0" err="1"/>
              <a:t>패널</a:t>
            </a:r>
            <a:r>
              <a:rPr sz="2000" dirty="0"/>
              <a:t> </a:t>
            </a:r>
            <a:r>
              <a:rPr sz="2000" dirty="0" err="1"/>
              <a:t>심사</a:t>
            </a:r>
            <a:endParaRPr sz="2000" dirty="0"/>
          </a:p>
          <a:p>
            <a:pPr algn="ctr">
              <a:lnSpc>
                <a:spcPct val="250000"/>
              </a:lnSpc>
              <a:spcAft>
                <a:spcPts val="4000"/>
              </a:spcAft>
              <a:defRPr sz="1400">
                <a:solidFill>
                  <a:srgbClr val="94A3B8"/>
                </a:solidFill>
                <a:latin typeface="Noto Sans KR"/>
              </a:defRPr>
            </a:pPr>
            <a:r>
              <a:rPr sz="1600" dirty="0" err="1"/>
              <a:t>현업</a:t>
            </a:r>
            <a:r>
              <a:rPr sz="1600" dirty="0"/>
              <a:t> · </a:t>
            </a:r>
            <a:r>
              <a:rPr sz="1600" dirty="0" err="1"/>
              <a:t>기술</a:t>
            </a:r>
            <a:r>
              <a:rPr sz="1600" dirty="0"/>
              <a:t> · </a:t>
            </a:r>
            <a:r>
              <a:rPr sz="1600" dirty="0" err="1"/>
              <a:t>보안</a:t>
            </a:r>
            <a:endParaRPr sz="1600" dirty="0"/>
          </a:p>
          <a:p>
            <a:pPr algn="ctr">
              <a:lnSpc>
                <a:spcPct val="250000"/>
              </a:lnSpc>
              <a:defRPr sz="1400" b="1">
                <a:solidFill>
                  <a:srgbClr val="38BDF8"/>
                </a:solidFill>
                <a:latin typeface="Noto Sans KR"/>
              </a:defRPr>
            </a:pPr>
            <a:r>
              <a:rPr sz="1600" dirty="0" err="1"/>
              <a:t>등록</a:t>
            </a:r>
            <a:r>
              <a:rPr sz="1600" dirty="0"/>
              <a:t> ➔ </a:t>
            </a:r>
            <a:r>
              <a:rPr sz="1600" dirty="0" err="1"/>
              <a:t>검토</a:t>
            </a:r>
            <a:r>
              <a:rPr sz="1600" dirty="0"/>
              <a:t> ➔ </a:t>
            </a:r>
            <a:r>
              <a:rPr sz="1600" dirty="0" err="1"/>
              <a:t>채점</a:t>
            </a:r>
            <a:r>
              <a:rPr sz="1600" dirty="0"/>
              <a:t> ➔ </a:t>
            </a:r>
            <a:r>
              <a:rPr sz="1600" dirty="0" err="1"/>
              <a:t>판정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1472C-5AF9-EA90-02B1-4C858020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40834-AF8A-2BDD-47F5-76C523511AF9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공통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63D5-5F36-EEA5-F051-9708834E43D7}"/>
              </a:ext>
            </a:extLst>
          </p:cNvPr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두 역할이 이어져야 한 건의 심사가 완료됩니다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EA675-BF20-498A-8B8B-9F689060FFA7}"/>
              </a:ext>
            </a:extLst>
          </p:cNvPr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8F538-D9AF-F42E-571A-73EE16360F1B}"/>
              </a:ext>
            </a:extLst>
          </p:cNvPr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915CD-3817-AC80-FC0D-7F6045F204F9}"/>
              </a:ext>
            </a:extLst>
          </p:cNvPr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8A9B51-76AE-75C6-660D-6607C320AF6D}"/>
              </a:ext>
            </a:extLst>
          </p:cNvPr>
          <p:cNvSpPr txBox="1"/>
          <p:nvPr/>
        </p:nvSpPr>
        <p:spPr>
          <a:xfrm>
            <a:off x="731520" y="1523335"/>
            <a:ext cx="5242562" cy="9341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자격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워크플로우</a:t>
            </a:r>
            <a:endParaRPr dirty="0"/>
          </a:p>
          <a:p>
            <a:pPr>
              <a:lnSpc>
                <a:spcPct val="3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/>
              <a:t>운영간사와</a:t>
            </a:r>
            <a:r>
              <a:rPr sz="1400" b="1" dirty="0"/>
              <a:t> </a:t>
            </a:r>
            <a:r>
              <a:rPr sz="1400" b="1" dirty="0" err="1"/>
              <a:t>심사위원</a:t>
            </a:r>
            <a:r>
              <a:rPr sz="1400" b="1" dirty="0"/>
              <a:t> </a:t>
            </a:r>
            <a:r>
              <a:rPr sz="1400" b="1" dirty="0" err="1"/>
              <a:t>간의</a:t>
            </a:r>
            <a:r>
              <a:rPr sz="1400" b="1" dirty="0"/>
              <a:t> </a:t>
            </a:r>
            <a:r>
              <a:rPr sz="1400" b="1" dirty="0" err="1"/>
              <a:t>원활한</a:t>
            </a:r>
            <a:r>
              <a:rPr sz="1400" b="1" dirty="0"/>
              <a:t> </a:t>
            </a:r>
            <a:r>
              <a:rPr sz="1400" b="1" dirty="0" err="1"/>
              <a:t>업무</a:t>
            </a:r>
            <a:r>
              <a:rPr sz="1400" b="1" dirty="0"/>
              <a:t> </a:t>
            </a:r>
            <a:r>
              <a:rPr sz="1400" b="1" dirty="0" err="1"/>
              <a:t>연계</a:t>
            </a:r>
            <a:r>
              <a:rPr sz="1400" b="1" dirty="0"/>
              <a:t> </a:t>
            </a:r>
            <a:r>
              <a:rPr sz="1400" b="1" dirty="0" err="1"/>
              <a:t>흐름</a:t>
            </a:r>
            <a:r>
              <a:rPr sz="1400" b="1" dirty="0"/>
              <a:t>: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C5AB08A-378C-C19D-DCFE-299F6E3220E8}"/>
              </a:ext>
            </a:extLst>
          </p:cNvPr>
          <p:cNvCxnSpPr/>
          <p:nvPr/>
        </p:nvCxnSpPr>
        <p:spPr>
          <a:xfrm>
            <a:off x="1743075" y="3362331"/>
            <a:ext cx="8515350" cy="95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007DC4C7-73C1-E53C-2A67-3AF49C7BB439}"/>
              </a:ext>
            </a:extLst>
          </p:cNvPr>
          <p:cNvSpPr>
            <a:spLocks noGrp="1"/>
          </p:cNvSpPr>
          <p:nvPr/>
        </p:nvSpPr>
        <p:spPr>
          <a:xfrm>
            <a:off x="1485900" y="3057531"/>
            <a:ext cx="609600" cy="609600"/>
          </a:xfrm>
          <a:prstGeom prst="ellipse">
            <a:avLst/>
          </a:prstGeom>
          <a:solidFill>
            <a:srgbClr val="6366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09D79E-E94C-5B46-9003-050E672A3E1F}"/>
              </a:ext>
            </a:extLst>
          </p:cNvPr>
          <p:cNvSpPr>
            <a:spLocks noGrp="1"/>
          </p:cNvSpPr>
          <p:nvPr/>
        </p:nvSpPr>
        <p:spPr>
          <a:xfrm>
            <a:off x="1485900" y="3181356"/>
            <a:ext cx="6096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967B7E2-3D89-BCD7-CE85-1675563DF270}"/>
              </a:ext>
            </a:extLst>
          </p:cNvPr>
          <p:cNvSpPr>
            <a:spLocks noGrp="1"/>
          </p:cNvSpPr>
          <p:nvPr/>
        </p:nvSpPr>
        <p:spPr>
          <a:xfrm>
            <a:off x="1164437" y="3876681"/>
            <a:ext cx="1285864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등록</a:t>
            </a:r>
            <a:endParaRPr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394FFC-35EA-404F-7A10-EBA893AC6AC1}"/>
              </a:ext>
            </a:extLst>
          </p:cNvPr>
          <p:cNvSpPr>
            <a:spLocks noGrp="1"/>
          </p:cNvSpPr>
          <p:nvPr/>
        </p:nvSpPr>
        <p:spPr>
          <a:xfrm>
            <a:off x="1171570" y="4295781"/>
            <a:ext cx="1278731" cy="1047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/>
              <a:t>간사가 지원자명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과제설명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증빙 자료 등록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95EB799-F187-27D6-BCBB-93DC93B4CED6}"/>
              </a:ext>
            </a:extLst>
          </p:cNvPr>
          <p:cNvSpPr>
            <a:spLocks noGrp="1"/>
          </p:cNvSpPr>
          <p:nvPr/>
        </p:nvSpPr>
        <p:spPr>
          <a:xfrm>
            <a:off x="4324350" y="3057531"/>
            <a:ext cx="609600" cy="609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4F411A5-A426-30E0-749B-CEB392C2C902}"/>
              </a:ext>
            </a:extLst>
          </p:cNvPr>
          <p:cNvSpPr>
            <a:spLocks noGrp="1"/>
          </p:cNvSpPr>
          <p:nvPr/>
        </p:nvSpPr>
        <p:spPr>
          <a:xfrm>
            <a:off x="4324350" y="3181356"/>
            <a:ext cx="6096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6453247-9124-252A-4881-652DEA37BE75}"/>
              </a:ext>
            </a:extLst>
          </p:cNvPr>
          <p:cNvSpPr>
            <a:spLocks noGrp="1"/>
          </p:cNvSpPr>
          <p:nvPr/>
        </p:nvSpPr>
        <p:spPr>
          <a:xfrm>
            <a:off x="4002887" y="3876681"/>
            <a:ext cx="1285864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3인 </a:t>
            </a:r>
            <a:r>
              <a:rPr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패널</a:t>
            </a:r>
            <a:r>
              <a:rPr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배정</a:t>
            </a:r>
            <a:endParaRPr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382E0E-0564-4008-4CE6-6384F8F8BA4B}"/>
              </a:ext>
            </a:extLst>
          </p:cNvPr>
          <p:cNvSpPr>
            <a:spLocks noGrp="1"/>
          </p:cNvSpPr>
          <p:nvPr/>
        </p:nvSpPr>
        <p:spPr>
          <a:xfrm>
            <a:off x="4010020" y="4295781"/>
            <a:ext cx="1278731" cy="1047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/>
              <a:t>현업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기술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보안별 심사위원 자동 매핑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73EC230-4613-099C-223C-5E6A49F3AE70}"/>
              </a:ext>
            </a:extLst>
          </p:cNvPr>
          <p:cNvSpPr>
            <a:spLocks noGrp="1"/>
          </p:cNvSpPr>
          <p:nvPr/>
        </p:nvSpPr>
        <p:spPr>
          <a:xfrm>
            <a:off x="7162800" y="3057531"/>
            <a:ext cx="609600" cy="609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258B8F3-4038-2F8A-6325-A9D038E26ED0}"/>
              </a:ext>
            </a:extLst>
          </p:cNvPr>
          <p:cNvSpPr>
            <a:spLocks noGrp="1"/>
          </p:cNvSpPr>
          <p:nvPr/>
        </p:nvSpPr>
        <p:spPr>
          <a:xfrm>
            <a:off x="7162800" y="3181356"/>
            <a:ext cx="6096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B9BAC4-0622-30BB-9FB9-F0E11752BEF2}"/>
              </a:ext>
            </a:extLst>
          </p:cNvPr>
          <p:cNvSpPr>
            <a:spLocks noGrp="1"/>
          </p:cNvSpPr>
          <p:nvPr/>
        </p:nvSpPr>
        <p:spPr>
          <a:xfrm>
            <a:off x="6841337" y="3876681"/>
            <a:ext cx="1285864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독립</a:t>
            </a:r>
            <a:r>
              <a:rPr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심사</a:t>
            </a:r>
            <a:endParaRPr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7D2EC8-F1E1-BA11-125A-C2932715FFCC}"/>
              </a:ext>
            </a:extLst>
          </p:cNvPr>
          <p:cNvSpPr>
            <a:spLocks noGrp="1"/>
          </p:cNvSpPr>
          <p:nvPr/>
        </p:nvSpPr>
        <p:spPr>
          <a:xfrm>
            <a:off x="6848470" y="4295781"/>
            <a:ext cx="1278731" cy="1047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/>
              <a:t>각 위원이 증빙을 검증하고 </a:t>
            </a:r>
            <a:r>
              <a:rPr lang="en-US" altLang="ko-KR" sz="1200" b="1" dirty="0"/>
              <a:t>5</a:t>
            </a:r>
            <a:r>
              <a:rPr lang="ko-KR" altLang="en-US" sz="1200" b="1" dirty="0"/>
              <a:t>단계 평가 제출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C56F5B3-709A-8061-EB70-45FCE132BE5A}"/>
              </a:ext>
            </a:extLst>
          </p:cNvPr>
          <p:cNvSpPr>
            <a:spLocks noGrp="1"/>
          </p:cNvSpPr>
          <p:nvPr/>
        </p:nvSpPr>
        <p:spPr>
          <a:xfrm>
            <a:off x="10001250" y="3057531"/>
            <a:ext cx="609600" cy="609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366190A-65C3-7E18-E4AC-FBB2BB5510A6}"/>
              </a:ext>
            </a:extLst>
          </p:cNvPr>
          <p:cNvSpPr>
            <a:spLocks noGrp="1"/>
          </p:cNvSpPr>
          <p:nvPr/>
        </p:nvSpPr>
        <p:spPr>
          <a:xfrm>
            <a:off x="10001250" y="3181356"/>
            <a:ext cx="6096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B050930-9119-ECFC-B30B-ABDEFF3EB87E}"/>
              </a:ext>
            </a:extLst>
          </p:cNvPr>
          <p:cNvSpPr>
            <a:spLocks noGrp="1"/>
          </p:cNvSpPr>
          <p:nvPr/>
        </p:nvSpPr>
        <p:spPr>
          <a:xfrm>
            <a:off x="9679787" y="3876681"/>
            <a:ext cx="1285864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종합</a:t>
            </a:r>
            <a:r>
              <a:rPr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판정</a:t>
            </a:r>
            <a:endParaRPr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0C5892C-9CF8-38F2-AFDC-6DD5857A2D47}"/>
              </a:ext>
            </a:extLst>
          </p:cNvPr>
          <p:cNvSpPr>
            <a:spLocks noGrp="1"/>
          </p:cNvSpPr>
          <p:nvPr/>
        </p:nvSpPr>
        <p:spPr>
          <a:xfrm>
            <a:off x="9686920" y="4295781"/>
            <a:ext cx="1278731" cy="1047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/>
              <a:t>3</a:t>
            </a:r>
            <a:r>
              <a:rPr lang="ko-KR" altLang="en-US" sz="1200" b="1" dirty="0"/>
              <a:t>인 점수 평균 및 결격 검증 후 판정서 발급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98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성명과 사내 이메일로 로그인합니다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663" y="1551327"/>
            <a:ext cx="4969291" cy="4346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3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순서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계정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인증</a:t>
            </a:r>
            <a:endParaRPr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3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(ID)에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등록된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성명을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입력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3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이메일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(Password)에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이메일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입력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3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「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시스템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」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선택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3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상단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역할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표시가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본인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권한인지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94A3B8"/>
                </a:solidFill>
              </a:rPr>
              <a:t>💡</a:t>
            </a:r>
            <a:r>
              <a:rPr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입력이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없거나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일치하지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않으면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오류가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표시됩니다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endParaRPr lang="en-US" sz="1400" dirty="0">
              <a:solidFill>
                <a:schemeClr val="bg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운영간사에게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등록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확인을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요청하세요</a:t>
            </a:r>
            <a:r>
              <a:rPr sz="14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0ABB7FF-4B4F-C186-41E2-72889A708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492" y="1866015"/>
            <a:ext cx="3801603" cy="408851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576C54D-B77B-A9C5-5B80-8053E81F0C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915"/>
          <a:stretch>
            <a:fillRect/>
          </a:stretch>
        </p:blipFill>
        <p:spPr>
          <a:xfrm>
            <a:off x="10106645" y="2103120"/>
            <a:ext cx="1536410" cy="27306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BA73DE0-FBC9-AAF9-F42F-9699609AC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645" y="2607176"/>
            <a:ext cx="1797142" cy="29211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먼저 내 역할과 완료 조건을 확인하세요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120640" cy="430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sz="1400" dirty="0" err="1"/>
              <a:t>사용자</a:t>
            </a:r>
            <a:r>
              <a:rPr sz="1400" dirty="0"/>
              <a:t> </a:t>
            </a:r>
            <a:r>
              <a:rPr sz="1400" dirty="0" err="1"/>
              <a:t>역할</a:t>
            </a:r>
            <a:r>
              <a:rPr sz="1400" dirty="0"/>
              <a:t> </a:t>
            </a:r>
            <a:r>
              <a:rPr sz="1400" dirty="0" err="1"/>
              <a:t>분리</a:t>
            </a:r>
            <a:r>
              <a:rPr sz="1400" dirty="0"/>
              <a:t> 및 </a:t>
            </a:r>
            <a:r>
              <a:rPr sz="1400" dirty="0" err="1"/>
              <a:t>완료</a:t>
            </a:r>
            <a:r>
              <a:rPr sz="1400" dirty="0"/>
              <a:t> </a:t>
            </a:r>
            <a:r>
              <a:rPr sz="1400" dirty="0" err="1"/>
              <a:t>기준</a:t>
            </a:r>
            <a:endParaRPr sz="1400" dirty="0"/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운영간사의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핵심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임무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조건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평가과제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후보자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등록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3인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패널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지정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이해상충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자가검증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큐·상태·점수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진척도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실시간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모니터링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3인의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심사가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완료되고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판정서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심사위원의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핵심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임무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제출물·시연·링크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공통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보안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체크리스트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Level 3 / Level 4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루브릭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면접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질문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내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심사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상태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배지가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「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완료」로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표시됨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BB7CD37-81CB-008B-163E-E102B3F6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777" y="1523334"/>
            <a:ext cx="4691703" cy="231375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7609411-65F2-3AB2-329C-1DB3F34D1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777" y="3947399"/>
            <a:ext cx="4691703" cy="229980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대시보드에서 전체 심사 현황부터 확인합니다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05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8E7926F-CA0D-91A3-92C0-A51AF65F9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937" y="2325628"/>
            <a:ext cx="6191966" cy="305361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19" y="1566482"/>
            <a:ext cx="9371024" cy="40305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AICA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자격심사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&amp;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대기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큐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endParaRPr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중,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인원을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실시간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관계사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심사를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기준으로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계열사별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모니터링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L3/L4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가중치와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치명적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결격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큐: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필터와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액션을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심사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통합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b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b="1" dirty="0">
                <a:solidFill>
                  <a:srgbClr val="94A3B8"/>
                </a:solidFill>
              </a:rPr>
              <a:t>💡</a:t>
            </a: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명단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기능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각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시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대상자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목록을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팝업으로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즉시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있습니다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D40A9-8911-C4A0-8113-6FB9D062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9873BF-6464-F1C0-9013-A2F575DC8A95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221034-1EA1-48C7-68C0-8283593982B3}"/>
              </a:ext>
            </a:extLst>
          </p:cNvPr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대시보드에서 전체 심사 현황부터 확인합니다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E91DD-E71A-2AC4-613A-926FC6D1240C}"/>
              </a:ext>
            </a:extLst>
          </p:cNvPr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CCE8D-4462-0050-F166-A1C0D17CD496}"/>
              </a:ext>
            </a:extLst>
          </p:cNvPr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241EE-74DF-78D1-7294-45FB3186004A}"/>
              </a:ext>
            </a:extLst>
          </p:cNvPr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dirty="0"/>
              <a:t>06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2E1A47-0066-6D5A-A129-EFC2CBAB1419}"/>
              </a:ext>
            </a:extLst>
          </p:cNvPr>
          <p:cNvSpPr txBox="1"/>
          <p:nvPr/>
        </p:nvSpPr>
        <p:spPr>
          <a:xfrm>
            <a:off x="731520" y="1566482"/>
            <a:ext cx="3222472" cy="40305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AICA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자격심사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&amp;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대기</a:t>
            </a:r>
            <a:r>
              <a:rPr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큐 </a:t>
            </a:r>
            <a:r>
              <a:rPr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endParaRPr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b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b="1" dirty="0">
                <a:solidFill>
                  <a:srgbClr val="94A3B8"/>
                </a:solidFill>
              </a:rPr>
              <a:t>💡</a:t>
            </a: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명단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보기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기능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endParaRPr lang="en-US"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시 </a:t>
            </a:r>
            <a:endParaRPr lang="en-US"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대상자</a:t>
            </a: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목록을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팝업으로</a:t>
            </a:r>
            <a:endParaRPr lang="en-US"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즉시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있습니다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387510-A3A7-27AF-5467-0F835D527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150" y="4647861"/>
            <a:ext cx="3267070" cy="167337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DB3F20-6B2D-D117-2584-F309E93E6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491" y="2309756"/>
            <a:ext cx="3270729" cy="220468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2D870A1-61AE-30E7-5C7F-15A1C9D61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043" y="4656278"/>
            <a:ext cx="3222471" cy="167614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587F41D-57C2-9FF0-64B3-78AC252D3F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21137"/>
          <a:stretch>
            <a:fillRect/>
          </a:stretch>
        </p:blipFill>
        <p:spPr>
          <a:xfrm>
            <a:off x="4919041" y="2317891"/>
            <a:ext cx="3222473" cy="220468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6791A73-96C4-8D8A-1F53-A9FF9BCC1E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973"/>
          <a:stretch>
            <a:fillRect/>
          </a:stretch>
        </p:blipFill>
        <p:spPr>
          <a:xfrm>
            <a:off x="4919041" y="1465357"/>
            <a:ext cx="6617177" cy="75972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0814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신규 과제는 필수 정보와 증빙을 한 번에 등록합니다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764791"/>
            <a:ext cx="6369368" cy="42938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후보자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및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링크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폼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지원자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성명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사내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이메일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소속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관계사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부서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자격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(L3/L4),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유형</a:t>
            </a:r>
            <a:endParaRPr lang="ko-KR" altLang="en-US" sz="1400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br>
              <a:rPr lang="ko-KR" altLang="en-US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 </a:t>
            </a:r>
            <a:r>
              <a:rPr lang="ko-KR" altLang="en-US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 내용 및 </a:t>
            </a:r>
            <a:r>
              <a:rPr lang="en-US" altLang="ko-KR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6S </a:t>
            </a:r>
            <a:r>
              <a:rPr lang="ko-KR" altLang="en-US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lang="en-US" altLang="ko-KR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대상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과제명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Pain Point, AI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해결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방안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핵심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기대효과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</a:t>
            </a:r>
            <a:endParaRPr lang="ko-KR" altLang="en-US" sz="1400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br>
              <a:rPr lang="ko-KR" altLang="en-US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 </a:t>
            </a:r>
            <a:r>
              <a:rPr lang="ko-KR" altLang="en-US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증빙 파일 링크 등록</a:t>
            </a:r>
            <a:r>
              <a:rPr lang="en-US" altLang="ko-KR"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디렉토리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PDF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주소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Git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소스코드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저장소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시연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동영상</a:t>
            </a:r>
            <a:r>
              <a:rPr sz="14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URL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310184B-248B-3835-8FA4-4CB1C4050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691" y="1645920"/>
            <a:ext cx="3613358" cy="460355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패널은 전문분야별 1인씩, 이해상충 없이 배정합니다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0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19" y="1465250"/>
            <a:ext cx="9604353" cy="4803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위원회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및 </a:t>
            </a:r>
            <a:r>
              <a:rPr dirty="0" err="1"/>
              <a:t>최적</a:t>
            </a:r>
            <a:r>
              <a:rPr dirty="0"/>
              <a:t> </a:t>
            </a:r>
            <a:r>
              <a:rPr dirty="0" err="1"/>
              <a:t>추천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</a:rPr>
              <a:t>1. </a:t>
            </a:r>
            <a:r>
              <a:rPr sz="1400" b="1" dirty="0" err="1">
                <a:solidFill>
                  <a:srgbClr val="94A3B8"/>
                </a:solidFill>
              </a:rPr>
              <a:t>현업·사업성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위원</a:t>
            </a:r>
            <a:r>
              <a:rPr sz="1400" b="1" dirty="0">
                <a:solidFill>
                  <a:srgbClr val="94A3B8"/>
                </a:solidFill>
              </a:rPr>
              <a:t> (</a:t>
            </a:r>
            <a:r>
              <a:rPr sz="1400" b="1" dirty="0" err="1">
                <a:solidFill>
                  <a:srgbClr val="94A3B8"/>
                </a:solidFill>
              </a:rPr>
              <a:t>가치성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검증</a:t>
            </a:r>
            <a:r>
              <a:rPr sz="1400" b="1" dirty="0">
                <a:solidFill>
                  <a:srgbClr val="94A3B8"/>
                </a:solidFill>
              </a:rPr>
              <a:t>): </a:t>
            </a:r>
            <a:r>
              <a:rPr sz="1400" b="1" dirty="0" err="1">
                <a:solidFill>
                  <a:srgbClr val="94A3B8"/>
                </a:solidFill>
              </a:rPr>
              <a:t>업무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프로세스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개선율</a:t>
            </a:r>
            <a:r>
              <a:rPr sz="1400" b="1" dirty="0">
                <a:solidFill>
                  <a:srgbClr val="94A3B8"/>
                </a:solidFill>
              </a:rPr>
              <a:t> 및 </a:t>
            </a:r>
            <a:endParaRPr lang="en-US" sz="1400" b="1" dirty="0">
              <a:solidFill>
                <a:srgbClr val="94A3B8"/>
              </a:solidFill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solidFill>
                  <a:srgbClr val="94A3B8"/>
                </a:solidFill>
              </a:rPr>
              <a:t>     </a:t>
            </a:r>
            <a:r>
              <a:rPr sz="1400" b="1" dirty="0" err="1">
                <a:solidFill>
                  <a:srgbClr val="94A3B8"/>
                </a:solidFill>
              </a:rPr>
              <a:t>사업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효과성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채점</a:t>
            </a:r>
            <a:endParaRPr sz="1400" b="1" dirty="0">
              <a:solidFill>
                <a:srgbClr val="94A3B8"/>
              </a:solidFill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</a:rPr>
              <a:t>2. </a:t>
            </a:r>
            <a:r>
              <a:rPr sz="1400" b="1" dirty="0" err="1">
                <a:solidFill>
                  <a:srgbClr val="94A3B8"/>
                </a:solidFill>
              </a:rPr>
              <a:t>AI·기술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위원</a:t>
            </a:r>
            <a:r>
              <a:rPr sz="1400" b="1" dirty="0">
                <a:solidFill>
                  <a:srgbClr val="94A3B8"/>
                </a:solidFill>
              </a:rPr>
              <a:t> (</a:t>
            </a:r>
            <a:r>
              <a:rPr sz="1400" b="1" dirty="0" err="1">
                <a:solidFill>
                  <a:srgbClr val="94A3B8"/>
                </a:solidFill>
              </a:rPr>
              <a:t>구현성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검증</a:t>
            </a:r>
            <a:r>
              <a:rPr sz="1400" b="1" dirty="0">
                <a:solidFill>
                  <a:srgbClr val="94A3B8"/>
                </a:solidFill>
              </a:rPr>
              <a:t>): </a:t>
            </a:r>
            <a:r>
              <a:rPr sz="1400" b="1" dirty="0" err="1">
                <a:solidFill>
                  <a:srgbClr val="94A3B8"/>
                </a:solidFill>
              </a:rPr>
              <a:t>기술적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난이도</a:t>
            </a:r>
            <a:r>
              <a:rPr sz="1400" b="1" dirty="0">
                <a:solidFill>
                  <a:srgbClr val="94A3B8"/>
                </a:solidFill>
              </a:rPr>
              <a:t> 및 </a:t>
            </a:r>
            <a:r>
              <a:rPr sz="1400" b="1" dirty="0" err="1">
                <a:solidFill>
                  <a:srgbClr val="94A3B8"/>
                </a:solidFill>
              </a:rPr>
              <a:t>구현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완성도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채점</a:t>
            </a:r>
            <a:endParaRPr sz="1400" b="1" dirty="0">
              <a:solidFill>
                <a:srgbClr val="94A3B8"/>
              </a:solidFill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</a:rPr>
              <a:t>3. </a:t>
            </a:r>
            <a:r>
              <a:rPr sz="1400" b="1" dirty="0" err="1">
                <a:solidFill>
                  <a:srgbClr val="94A3B8"/>
                </a:solidFill>
              </a:rPr>
              <a:t>보안·거버넌스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위원</a:t>
            </a:r>
            <a:r>
              <a:rPr sz="1400" b="1" dirty="0">
                <a:solidFill>
                  <a:srgbClr val="94A3B8"/>
                </a:solidFill>
              </a:rPr>
              <a:t> (</a:t>
            </a:r>
            <a:r>
              <a:rPr sz="1400" b="1" dirty="0" err="1">
                <a:solidFill>
                  <a:srgbClr val="94A3B8"/>
                </a:solidFill>
              </a:rPr>
              <a:t>신뢰성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검증</a:t>
            </a:r>
            <a:r>
              <a:rPr sz="1400" b="1" dirty="0">
                <a:solidFill>
                  <a:srgbClr val="94A3B8"/>
                </a:solidFill>
              </a:rPr>
              <a:t>): </a:t>
            </a:r>
            <a:r>
              <a:rPr sz="1400" b="1" dirty="0" err="1">
                <a:solidFill>
                  <a:srgbClr val="94A3B8"/>
                </a:solidFill>
              </a:rPr>
              <a:t>데이터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활용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보안</a:t>
            </a:r>
            <a:r>
              <a:rPr sz="1400" b="1" dirty="0">
                <a:solidFill>
                  <a:srgbClr val="94A3B8"/>
                </a:solidFill>
              </a:rPr>
              <a:t> 및</a:t>
            </a:r>
            <a:endParaRPr lang="en-US" sz="1400" b="1" dirty="0">
              <a:solidFill>
                <a:srgbClr val="94A3B8"/>
              </a:solidFill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solidFill>
                  <a:srgbClr val="94A3B8"/>
                </a:solidFill>
              </a:rPr>
              <a:t>    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내부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가이드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채점</a:t>
            </a:r>
            <a:endParaRPr sz="1400" b="1" dirty="0">
              <a:solidFill>
                <a:srgbClr val="94A3B8"/>
              </a:solidFill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solidFill>
                  <a:srgbClr val="94A3B8"/>
                </a:solidFill>
              </a:rPr>
            </a:br>
            <a:r>
              <a:rPr lang="ko-KR" altLang="en-US" sz="1400" b="1" dirty="0">
                <a:solidFill>
                  <a:srgbClr val="94A3B8"/>
                </a:solidFill>
              </a:rPr>
              <a:t>⚡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최적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패널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자동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추천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로직</a:t>
            </a:r>
            <a:r>
              <a:rPr sz="1400" b="1" dirty="0">
                <a:solidFill>
                  <a:srgbClr val="94A3B8"/>
                </a:solidFill>
              </a:rPr>
              <a:t>: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</a:rPr>
              <a:t>• </a:t>
            </a:r>
            <a:r>
              <a:rPr sz="1400" b="1" dirty="0" err="1">
                <a:solidFill>
                  <a:srgbClr val="94A3B8"/>
                </a:solidFill>
              </a:rPr>
              <a:t>피평가자와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동일한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사명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소속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위원을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자동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배제하여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후보군을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endParaRPr lang="en-US" sz="1400" b="1" dirty="0">
              <a:solidFill>
                <a:srgbClr val="94A3B8"/>
              </a:solidFill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solidFill>
                  <a:srgbClr val="94A3B8"/>
                </a:solidFill>
              </a:rPr>
              <a:t>   </a:t>
            </a:r>
            <a:r>
              <a:rPr sz="1400" b="1" dirty="0" err="1">
                <a:solidFill>
                  <a:srgbClr val="94A3B8"/>
                </a:solidFill>
              </a:rPr>
              <a:t>우선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순위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정렬합니다</a:t>
            </a:r>
            <a:r>
              <a:rPr sz="1400" b="1" dirty="0">
                <a:solidFill>
                  <a:srgbClr val="94A3B8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br>
              <a:rPr sz="1400" b="1" dirty="0">
                <a:solidFill>
                  <a:srgbClr val="94A3B8"/>
                </a:solidFill>
              </a:rPr>
            </a:br>
            <a:r>
              <a:rPr sz="1400" b="1" dirty="0">
                <a:solidFill>
                  <a:srgbClr val="94A3B8"/>
                </a:solidFill>
              </a:rPr>
              <a:t>⚠️ </a:t>
            </a:r>
            <a:r>
              <a:rPr sz="1400" b="1" dirty="0" err="1">
                <a:solidFill>
                  <a:srgbClr val="94A3B8"/>
                </a:solidFill>
              </a:rPr>
              <a:t>간사가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위원을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직접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수동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선택하는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경우</a:t>
            </a:r>
            <a:r>
              <a:rPr sz="1400" b="1" dirty="0">
                <a:solidFill>
                  <a:srgbClr val="94A3B8"/>
                </a:solidFill>
              </a:rPr>
              <a:t>, </a:t>
            </a:r>
            <a:r>
              <a:rPr sz="1400" b="1" dirty="0" err="1">
                <a:solidFill>
                  <a:srgbClr val="94A3B8"/>
                </a:solidFill>
              </a:rPr>
              <a:t>소속이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일치하는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위원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옆에는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빨간색</a:t>
            </a:r>
            <a:r>
              <a:rPr sz="1400" b="1" dirty="0">
                <a:solidFill>
                  <a:srgbClr val="94A3B8"/>
                </a:solidFill>
              </a:rPr>
              <a:t> [</a:t>
            </a:r>
            <a:r>
              <a:rPr sz="1400" b="1" dirty="0" err="1">
                <a:solidFill>
                  <a:srgbClr val="94A3B8"/>
                </a:solidFill>
              </a:rPr>
              <a:t>이해상충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주의</a:t>
            </a:r>
            <a:r>
              <a:rPr sz="1400" b="1" dirty="0">
                <a:solidFill>
                  <a:srgbClr val="94A3B8"/>
                </a:solidFill>
              </a:rPr>
              <a:t>] </a:t>
            </a:r>
            <a:r>
              <a:rPr sz="1400" b="1" dirty="0" err="1">
                <a:solidFill>
                  <a:srgbClr val="94A3B8"/>
                </a:solidFill>
              </a:rPr>
              <a:t>레이블이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노출됩니다</a:t>
            </a:r>
            <a:r>
              <a:rPr sz="1400" b="1" dirty="0">
                <a:solidFill>
                  <a:srgbClr val="94A3B8"/>
                </a:solidFill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0C5E387-FFDD-A477-C022-A46C05621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432" y="2498901"/>
            <a:ext cx="5376623" cy="254322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필터와 상태값으로 병목을 빠르게 찾습니다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0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19" y="1514190"/>
            <a:ext cx="5547054" cy="47860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분기</a:t>
            </a:r>
            <a:r>
              <a:rPr dirty="0"/>
              <a:t> 및 </a:t>
            </a:r>
            <a:r>
              <a:rPr dirty="0" err="1"/>
              <a:t>필터</a:t>
            </a:r>
            <a:r>
              <a:rPr dirty="0"/>
              <a:t> </a:t>
            </a:r>
            <a:r>
              <a:rPr dirty="0" err="1"/>
              <a:t>모니터링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/>
              <a:t>통합</a:t>
            </a:r>
            <a:r>
              <a:rPr sz="1400" b="1" dirty="0"/>
              <a:t> </a:t>
            </a:r>
            <a:r>
              <a:rPr sz="1400" b="1" dirty="0" err="1"/>
              <a:t>대기</a:t>
            </a:r>
            <a:r>
              <a:rPr sz="1400" b="1" dirty="0"/>
              <a:t> 큐 및 </a:t>
            </a:r>
            <a:r>
              <a:rPr sz="1400" b="1" dirty="0" err="1"/>
              <a:t>필터</a:t>
            </a:r>
            <a:r>
              <a:rPr sz="1400" b="1" dirty="0"/>
              <a:t> </a:t>
            </a:r>
            <a:r>
              <a:rPr sz="1400" b="1" dirty="0" err="1"/>
              <a:t>시스템</a:t>
            </a:r>
            <a:r>
              <a:rPr sz="1400" b="1" dirty="0"/>
              <a:t> </a:t>
            </a:r>
            <a:r>
              <a:rPr sz="1400" b="1" dirty="0" err="1"/>
              <a:t>활용법</a:t>
            </a:r>
            <a:r>
              <a:rPr sz="1400" b="1" dirty="0"/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/>
              <a:t>• </a:t>
            </a:r>
            <a:r>
              <a:rPr sz="1400" b="1" dirty="0" err="1"/>
              <a:t>필터</a:t>
            </a:r>
            <a:r>
              <a:rPr sz="1400" b="1" dirty="0"/>
              <a:t> </a:t>
            </a:r>
            <a:r>
              <a:rPr sz="1400" b="1" dirty="0" err="1"/>
              <a:t>종류</a:t>
            </a:r>
            <a:r>
              <a:rPr sz="1400" b="1" dirty="0"/>
              <a:t>: </a:t>
            </a:r>
            <a:r>
              <a:rPr sz="1400" b="1" dirty="0" err="1"/>
              <a:t>관계사별</a:t>
            </a:r>
            <a:r>
              <a:rPr sz="1400" b="1" dirty="0"/>
              <a:t>, </a:t>
            </a:r>
            <a:r>
              <a:rPr sz="1400" b="1" dirty="0" err="1"/>
              <a:t>인증</a:t>
            </a:r>
            <a:r>
              <a:rPr sz="1400" b="1" dirty="0"/>
              <a:t> </a:t>
            </a:r>
            <a:r>
              <a:rPr sz="1400" b="1" dirty="0" err="1"/>
              <a:t>레벨별</a:t>
            </a:r>
            <a:r>
              <a:rPr sz="1400" b="1" dirty="0"/>
              <a:t>, </a:t>
            </a:r>
            <a:r>
              <a:rPr sz="1400" b="1" dirty="0" err="1"/>
              <a:t>평가</a:t>
            </a:r>
            <a:r>
              <a:rPr sz="1400" b="1" dirty="0"/>
              <a:t> </a:t>
            </a:r>
            <a:r>
              <a:rPr sz="1400" b="1" dirty="0" err="1"/>
              <a:t>진행</a:t>
            </a:r>
            <a:r>
              <a:rPr sz="1400" b="1" dirty="0"/>
              <a:t> </a:t>
            </a:r>
            <a:r>
              <a:rPr sz="1400" b="1" dirty="0" err="1"/>
              <a:t>상태별</a:t>
            </a:r>
            <a:r>
              <a:rPr sz="1400" b="1" dirty="0"/>
              <a:t> </a:t>
            </a:r>
            <a:r>
              <a:rPr sz="1400" b="1" dirty="0" err="1"/>
              <a:t>필터</a:t>
            </a:r>
            <a:r>
              <a:rPr sz="1400" b="1" dirty="0"/>
              <a:t> </a:t>
            </a:r>
            <a:r>
              <a:rPr sz="1400" b="1" dirty="0" err="1"/>
              <a:t>제공</a:t>
            </a:r>
            <a:endParaRPr sz="1400"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/>
              <a:t>• 1. </a:t>
            </a:r>
            <a:r>
              <a:rPr sz="1400" b="1" dirty="0" err="1"/>
              <a:t>평가대기</a:t>
            </a:r>
            <a:r>
              <a:rPr sz="1400" b="1" dirty="0"/>
              <a:t>: </a:t>
            </a:r>
            <a:r>
              <a:rPr sz="1400" b="1" dirty="0" err="1"/>
              <a:t>패널</a:t>
            </a:r>
            <a:r>
              <a:rPr sz="1400" b="1" dirty="0"/>
              <a:t> </a:t>
            </a:r>
            <a:r>
              <a:rPr sz="1400" b="1" dirty="0" err="1"/>
              <a:t>배정</a:t>
            </a:r>
            <a:r>
              <a:rPr sz="1400" b="1" dirty="0"/>
              <a:t> </a:t>
            </a:r>
            <a:r>
              <a:rPr sz="1400" b="1" dirty="0" err="1"/>
              <a:t>완료</a:t>
            </a:r>
            <a:r>
              <a:rPr sz="1400" b="1" dirty="0"/>
              <a:t> 후 </a:t>
            </a:r>
            <a:r>
              <a:rPr sz="1400" b="1" dirty="0" err="1"/>
              <a:t>아직</a:t>
            </a:r>
            <a:r>
              <a:rPr sz="1400" b="1" dirty="0"/>
              <a:t> </a:t>
            </a:r>
            <a:r>
              <a:rPr sz="1400" b="1" dirty="0" err="1"/>
              <a:t>위원이</a:t>
            </a:r>
            <a:r>
              <a:rPr sz="1400" b="1" dirty="0"/>
              <a:t> </a:t>
            </a:r>
            <a:r>
              <a:rPr sz="1400" b="1" dirty="0" err="1"/>
              <a:t>채점을</a:t>
            </a:r>
            <a:r>
              <a:rPr sz="1400" b="1" dirty="0"/>
              <a:t> </a:t>
            </a:r>
            <a:r>
              <a:rPr sz="1400" b="1" dirty="0" err="1"/>
              <a:t>시작하지</a:t>
            </a:r>
            <a:r>
              <a:rPr sz="1400" b="1" dirty="0"/>
              <a:t> </a:t>
            </a:r>
            <a:r>
              <a:rPr sz="1400" b="1" dirty="0" err="1"/>
              <a:t>않음</a:t>
            </a:r>
            <a:endParaRPr sz="1400"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/>
              <a:t>• 2. </a:t>
            </a:r>
            <a:r>
              <a:rPr sz="1400" b="1" dirty="0" err="1"/>
              <a:t>심사중</a:t>
            </a:r>
            <a:r>
              <a:rPr sz="1400" b="1" dirty="0"/>
              <a:t>: 1명 </a:t>
            </a:r>
            <a:r>
              <a:rPr sz="1400" b="1" dirty="0" err="1"/>
              <a:t>이상의</a:t>
            </a:r>
            <a:r>
              <a:rPr sz="1400" b="1" dirty="0"/>
              <a:t> </a:t>
            </a:r>
            <a:r>
              <a:rPr sz="1400" b="1" dirty="0" err="1"/>
              <a:t>위원이</a:t>
            </a:r>
            <a:r>
              <a:rPr sz="1400" b="1" dirty="0"/>
              <a:t> </a:t>
            </a:r>
            <a:r>
              <a:rPr sz="1400" b="1" dirty="0" err="1"/>
              <a:t>부분</a:t>
            </a:r>
            <a:r>
              <a:rPr sz="1400" b="1" dirty="0"/>
              <a:t> </a:t>
            </a:r>
            <a:r>
              <a:rPr sz="1400" b="1" dirty="0" err="1"/>
              <a:t>채점을</a:t>
            </a:r>
            <a:r>
              <a:rPr sz="1400" b="1" dirty="0"/>
              <a:t> </a:t>
            </a:r>
            <a:r>
              <a:rPr sz="1400" b="1" dirty="0" err="1"/>
              <a:t>기록하거나</a:t>
            </a:r>
            <a:r>
              <a:rPr sz="1400" b="1" dirty="0"/>
              <a:t> </a:t>
            </a:r>
            <a:r>
              <a:rPr sz="1400" b="1" dirty="0" err="1"/>
              <a:t>제출함</a:t>
            </a:r>
            <a:endParaRPr sz="1400"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/>
              <a:t>• 3. </a:t>
            </a:r>
            <a:r>
              <a:rPr sz="1400" b="1" dirty="0" err="1"/>
              <a:t>완료</a:t>
            </a:r>
            <a:r>
              <a:rPr sz="1400" b="1" dirty="0"/>
              <a:t>: 3인 </a:t>
            </a:r>
            <a:r>
              <a:rPr sz="1400" b="1" dirty="0" err="1"/>
              <a:t>패널이</a:t>
            </a:r>
            <a:r>
              <a:rPr sz="1400" b="1" dirty="0"/>
              <a:t> </a:t>
            </a:r>
            <a:r>
              <a:rPr sz="1400" b="1" dirty="0" err="1"/>
              <a:t>모두</a:t>
            </a:r>
            <a:r>
              <a:rPr sz="1400" b="1" dirty="0"/>
              <a:t> </a:t>
            </a:r>
            <a:r>
              <a:rPr sz="1400" b="1" dirty="0" err="1"/>
              <a:t>최종</a:t>
            </a:r>
            <a:r>
              <a:rPr sz="1400" b="1" dirty="0"/>
              <a:t> </a:t>
            </a:r>
            <a:r>
              <a:rPr sz="1400" b="1" dirty="0" err="1"/>
              <a:t>평가를</a:t>
            </a:r>
            <a:r>
              <a:rPr sz="1400" b="1" dirty="0"/>
              <a:t> </a:t>
            </a:r>
            <a:r>
              <a:rPr sz="1400" b="1" dirty="0" err="1"/>
              <a:t>제출하여</a:t>
            </a:r>
            <a:r>
              <a:rPr sz="1400" b="1" dirty="0"/>
              <a:t> </a:t>
            </a:r>
            <a:r>
              <a:rPr sz="1400" b="1" dirty="0" err="1"/>
              <a:t>종합</a:t>
            </a:r>
            <a:r>
              <a:rPr sz="1400" b="1" dirty="0"/>
              <a:t> </a:t>
            </a:r>
            <a:r>
              <a:rPr sz="1400" b="1" dirty="0" err="1"/>
              <a:t>평균이</a:t>
            </a:r>
            <a:r>
              <a:rPr sz="1400" b="1" dirty="0"/>
              <a:t> </a:t>
            </a:r>
            <a:r>
              <a:rPr sz="1400" b="1" dirty="0" err="1"/>
              <a:t>집계됨</a:t>
            </a:r>
            <a:endParaRPr sz="1400"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/>
              <a:t>• 4. </a:t>
            </a:r>
            <a:r>
              <a:rPr sz="1400" b="1" dirty="0" err="1"/>
              <a:t>보고서</a:t>
            </a:r>
            <a:r>
              <a:rPr sz="1400" b="1" dirty="0"/>
              <a:t> </a:t>
            </a:r>
            <a:r>
              <a:rPr sz="1400" b="1" dirty="0" err="1"/>
              <a:t>보기</a:t>
            </a:r>
            <a:r>
              <a:rPr sz="1400" b="1" dirty="0"/>
              <a:t>: [</a:t>
            </a:r>
            <a:r>
              <a:rPr sz="1400" b="1" dirty="0" err="1"/>
              <a:t>결과</a:t>
            </a:r>
            <a:r>
              <a:rPr sz="1400" b="1" dirty="0"/>
              <a:t> </a:t>
            </a:r>
            <a:r>
              <a:rPr sz="1400" b="1" dirty="0" err="1"/>
              <a:t>보기</a:t>
            </a:r>
            <a:r>
              <a:rPr sz="1400" b="1" dirty="0"/>
              <a:t>] </a:t>
            </a:r>
            <a:r>
              <a:rPr sz="1400" b="1" dirty="0" err="1"/>
              <a:t>액션</a:t>
            </a:r>
            <a:r>
              <a:rPr sz="1400" b="1" dirty="0"/>
              <a:t> </a:t>
            </a:r>
            <a:r>
              <a:rPr sz="1400" b="1" dirty="0" err="1"/>
              <a:t>버튼을</a:t>
            </a:r>
            <a:r>
              <a:rPr sz="1400" b="1" dirty="0"/>
              <a:t> </a:t>
            </a:r>
            <a:r>
              <a:rPr sz="1400" b="1" dirty="0" err="1"/>
              <a:t>눌러</a:t>
            </a:r>
            <a:r>
              <a:rPr sz="1400" b="1" dirty="0"/>
              <a:t> </a:t>
            </a:r>
            <a:r>
              <a:rPr sz="1400" b="1" dirty="0" err="1"/>
              <a:t>종합판정서</a:t>
            </a:r>
            <a:r>
              <a:rPr sz="1400" b="1" dirty="0"/>
              <a:t> </a:t>
            </a:r>
            <a:r>
              <a:rPr sz="1400" b="1" dirty="0" err="1"/>
              <a:t>조회</a:t>
            </a:r>
            <a:r>
              <a:rPr sz="1400" b="1" dirty="0"/>
              <a:t> 및 </a:t>
            </a:r>
            <a:r>
              <a:rPr sz="1400" b="1" dirty="0" err="1"/>
              <a:t>인쇄</a:t>
            </a:r>
            <a:endParaRPr sz="1400" b="1" dirty="0"/>
          </a:p>
          <a:p>
            <a:pPr>
              <a:lnSpc>
                <a:spcPct val="150000"/>
              </a:lnSpc>
            </a:pPr>
            <a:br>
              <a:rPr sz="1400" b="1" dirty="0"/>
            </a:br>
            <a:r>
              <a:rPr sz="1400" b="1" dirty="0">
                <a:solidFill>
                  <a:srgbClr val="94A3B8"/>
                </a:solidFill>
              </a:rPr>
              <a:t>💡 팁: '타 </a:t>
            </a:r>
            <a:r>
              <a:rPr sz="1400" b="1" dirty="0" err="1">
                <a:solidFill>
                  <a:srgbClr val="94A3B8"/>
                </a:solidFill>
              </a:rPr>
              <a:t>위원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진척도</a:t>
            </a:r>
            <a:r>
              <a:rPr sz="1400" b="1" dirty="0">
                <a:solidFill>
                  <a:srgbClr val="94A3B8"/>
                </a:solidFill>
              </a:rPr>
              <a:t>' </a:t>
            </a:r>
            <a:r>
              <a:rPr sz="1400" b="1" dirty="0" err="1">
                <a:solidFill>
                  <a:srgbClr val="94A3B8"/>
                </a:solidFill>
              </a:rPr>
              <a:t>항목에서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실시간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배지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도트를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확인해</a:t>
            </a:r>
            <a:endParaRPr lang="en-US" sz="1400" b="1" dirty="0">
              <a:solidFill>
                <a:srgbClr val="94A3B8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94A3B8"/>
                </a:solidFill>
              </a:rPr>
              <a:t>             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미제출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위원을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즉시</a:t>
            </a:r>
            <a:r>
              <a:rPr sz="1400" b="1" dirty="0">
                <a:solidFill>
                  <a:srgbClr val="94A3B8"/>
                </a:solidFill>
              </a:rPr>
              <a:t> </a:t>
            </a:r>
            <a:r>
              <a:rPr sz="1400" b="1" dirty="0" err="1">
                <a:solidFill>
                  <a:srgbClr val="94A3B8"/>
                </a:solidFill>
              </a:rPr>
              <a:t>판별할</a:t>
            </a:r>
            <a:r>
              <a:rPr sz="1400" b="1" dirty="0">
                <a:solidFill>
                  <a:srgbClr val="94A3B8"/>
                </a:solidFill>
              </a:rPr>
              <a:t> 수 </a:t>
            </a:r>
            <a:r>
              <a:rPr sz="1400" b="1" dirty="0" err="1">
                <a:solidFill>
                  <a:srgbClr val="94A3B8"/>
                </a:solidFill>
              </a:rPr>
              <a:t>있습니다</a:t>
            </a:r>
            <a:r>
              <a:rPr sz="1400" b="1" dirty="0">
                <a:solidFill>
                  <a:srgbClr val="94A3B8"/>
                </a:solidFill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E3A34F-544D-A4A2-632C-9F50E23532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94"/>
          <a:stretch>
            <a:fillRect/>
          </a:stretch>
        </p:blipFill>
        <p:spPr>
          <a:xfrm>
            <a:off x="6095999" y="2020824"/>
            <a:ext cx="5547055" cy="389275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3인 제출 후 종합판정서가 완성됩니다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dirty="0"/>
              <a:t>10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219474" cy="4871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종합판정</a:t>
            </a:r>
            <a:r>
              <a:rPr dirty="0"/>
              <a:t> </a:t>
            </a: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발급</a:t>
            </a:r>
            <a:r>
              <a:rPr dirty="0"/>
              <a:t> 및 </a:t>
            </a:r>
            <a:r>
              <a:rPr dirty="0" err="1"/>
              <a:t>명패</a:t>
            </a:r>
            <a:r>
              <a:rPr dirty="0"/>
              <a:t> </a:t>
            </a:r>
            <a:r>
              <a:rPr dirty="0" err="1"/>
              <a:t>동기화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종합판정서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구성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항목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가이드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지원자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종합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점수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시각화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3인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배정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위원의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세부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루브릭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채점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점수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종합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정성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의견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노출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하단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서명란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배정된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심사위원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성명으로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명패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자동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변경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최적화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(PDF)]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버튼을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클릭하여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A4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최적화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endParaRPr 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공유용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가능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⚠️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결격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시: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표절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중요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API Key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노출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등이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발견되어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결격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처리된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경우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endParaRPr 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점수가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70점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이상이어도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판정은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'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불합격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처리됩니다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282BE2A-F64E-89E1-63D3-2E32CB5C4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2269"/>
            <a:ext cx="2935223" cy="641346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내 배정 과제 큐에서 심사 우선순위를 잡습니다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8862536" cy="4474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위원</a:t>
            </a:r>
            <a:r>
              <a:rPr dirty="0"/>
              <a:t> </a:t>
            </a:r>
            <a:r>
              <a:rPr dirty="0" err="1"/>
              <a:t>배정</a:t>
            </a:r>
            <a:r>
              <a:rPr dirty="0"/>
              <a:t> 큐 </a:t>
            </a:r>
            <a:r>
              <a:rPr dirty="0" err="1"/>
              <a:t>모니터링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심사위원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전용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배정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리스트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가이드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이메일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시,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본인이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패널로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등록된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과제만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화면에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정렬됩니다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테이블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컬럼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지원자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소속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법인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인증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레벨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endParaRPr 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내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진행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대기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), 타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위원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진척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상태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표시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b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심사하기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채점을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시작하거나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제출한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내용을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재조정할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때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버튼을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선택해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작업장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(Workspace)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으로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진입합니다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878CB8-1780-89A6-32EA-3A201688D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2130360"/>
            <a:ext cx="5642305" cy="124404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1140583-302C-7BD7-2D01-8E4B25F63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49" y="4428064"/>
            <a:ext cx="5642305" cy="64168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채점 전에 제출물의 연결성과 재현 가능성을 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1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317576"/>
            <a:ext cx="5120640" cy="496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/>
              <a:t>3대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다차원</a:t>
            </a:r>
            <a:r>
              <a:rPr dirty="0"/>
              <a:t> </a:t>
            </a:r>
            <a:r>
              <a:rPr dirty="0" err="1"/>
              <a:t>교차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제출물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탭(Tab)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활용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1):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제안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배경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Pain Point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극복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방안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6S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문제-해결-기대효과의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논리적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일관성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체크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소스코드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2):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디렉토리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API Key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대책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시연·링크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3):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PDF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Git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구동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동영상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링크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유효성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💡 소스코드 및 구동 영상 링크가 손상되었을 경우 정성 </a:t>
            </a:r>
            <a:r>
              <a:rPr lang="ko-KR" altLang="en-US"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의견란에</a:t>
            </a:r>
            <a:endParaRPr lang="ko-KR" altLang="en-US"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구체적인 </a:t>
            </a:r>
            <a:r>
              <a:rPr lang="ko-KR" altLang="en-US"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비작동</a:t>
            </a:r>
            <a:r>
              <a:rPr lang="ko-KR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사유를 기재해 주세요</a:t>
            </a:r>
            <a:r>
              <a:rPr lang="en-US" altLang="ko-KR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C3B64EA-3D76-A4EF-5A7E-2D077B4AE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407" y="1463040"/>
            <a:ext cx="4597636" cy="504850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29949-A618-21EB-9EE9-E15160BDF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9579A6-1627-6836-646E-0298348FCF81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2F2EEB-9876-AD79-F0C6-973265468BD2}"/>
              </a:ext>
            </a:extLst>
          </p:cNvPr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채점 전에 제출물의 연결성과 재현 가능성을 봅니다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F9F6-F47F-EE0E-F114-93F9F7B019DC}"/>
              </a:ext>
            </a:extLst>
          </p:cNvPr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9FB3B-4367-4971-B6FF-313AEBFCE30A}"/>
              </a:ext>
            </a:extLst>
          </p:cNvPr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8CBE3-F4C4-BF61-E59E-1FF7A58125ED}"/>
              </a:ext>
            </a:extLst>
          </p:cNvPr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1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94EEE-D2DD-39A2-0FA4-08D0B292C639}"/>
              </a:ext>
            </a:extLst>
          </p:cNvPr>
          <p:cNvSpPr txBox="1"/>
          <p:nvPr/>
        </p:nvSpPr>
        <p:spPr>
          <a:xfrm>
            <a:off x="731520" y="1317576"/>
            <a:ext cx="5120640" cy="496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/>
              <a:t>3대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다차원</a:t>
            </a:r>
            <a:r>
              <a:rPr dirty="0"/>
              <a:t> </a:t>
            </a:r>
            <a:r>
              <a:rPr dirty="0" err="1"/>
              <a:t>교차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제출물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탭(Tab)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활용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1):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제안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배경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Pain Point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극복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방안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6S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문제-해결-기대효과의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논리적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일관성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소스코드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2):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디렉토리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트리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구성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API Key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방지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대책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endParaRPr sz="1400" b="1" dirty="0">
              <a:solidFill>
                <a:schemeClr val="bg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시연·링크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3):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PDF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Git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구동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동영상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링크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유효성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💡 소스코드 및 구동 영상 링크가 손상되었을 경우 정성 </a:t>
            </a:r>
            <a:r>
              <a:rPr lang="ko-KR" altLang="en-US"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의견란에</a:t>
            </a:r>
            <a:endParaRPr lang="ko-KR" altLang="en-US"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구체적인 </a:t>
            </a:r>
            <a:r>
              <a:rPr lang="ko-KR" altLang="en-US"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비작동</a:t>
            </a:r>
            <a:r>
              <a:rPr lang="ko-KR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사유를 기재해 주세요</a:t>
            </a:r>
            <a:r>
              <a:rPr lang="en-US" altLang="ko-KR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BC3524B-06CC-855B-57DD-259512AF2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40407" y="1467739"/>
            <a:ext cx="4597636" cy="503911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31087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7B272-15D8-8E2D-E74C-290A83EF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FCF9B1-7411-76C7-1AF8-D9374EBD4E27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26F73-6A2F-E9D3-E8F0-BC90D53DEF66}"/>
              </a:ext>
            </a:extLst>
          </p:cNvPr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채점 전에 제출물의 연결성과 재현 가능성을 봅니다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3FB00-F465-C07E-86A8-FC369DE5E24E}"/>
              </a:ext>
            </a:extLst>
          </p:cNvPr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954DF-6122-0E48-D077-3761DCE5B649}"/>
              </a:ext>
            </a:extLst>
          </p:cNvPr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FFFCD-9584-F925-534A-D9FA0A2E8E83}"/>
              </a:ext>
            </a:extLst>
          </p:cNvPr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dirty="0"/>
              <a:t>14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97BD0-F992-CEFE-D68B-722B9321B52B}"/>
              </a:ext>
            </a:extLst>
          </p:cNvPr>
          <p:cNvSpPr txBox="1"/>
          <p:nvPr/>
        </p:nvSpPr>
        <p:spPr>
          <a:xfrm>
            <a:off x="731520" y="1317576"/>
            <a:ext cx="5120640" cy="496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/>
              <a:t>3대 </a:t>
            </a:r>
            <a:r>
              <a:rPr dirty="0" err="1"/>
              <a:t>증빙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다차원</a:t>
            </a:r>
            <a:r>
              <a:rPr dirty="0"/>
              <a:t> </a:t>
            </a:r>
            <a:r>
              <a:rPr dirty="0" err="1"/>
              <a:t>교차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제출물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탭(Tab)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활용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1):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제안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배경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Pain Point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극복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방안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6S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요약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문제-해결-기대효과의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논리적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일관성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소스코드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2):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디렉토리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API Key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대책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시연·링크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(Tab 3):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PDF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원본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Git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저장소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주소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구동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동영상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링크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유효성</a:t>
            </a:r>
            <a:r>
              <a:rPr sz="1400" b="1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endParaRPr sz="1400" b="1" dirty="0">
              <a:solidFill>
                <a:schemeClr val="bg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💡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소스코드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구동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링크가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손상되었을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의견란에</a:t>
            </a:r>
            <a:endParaRPr lang="en-US" altLang="en-US"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</a:t>
            </a:r>
            <a:r>
              <a:rPr lang="ko-KR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구체적인 </a:t>
            </a:r>
            <a:r>
              <a:rPr lang="ko-KR" altLang="en-US"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비작동</a:t>
            </a:r>
            <a:r>
              <a:rPr lang="ko-KR" alt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사유를 기재해 주세요</a:t>
            </a:r>
            <a:r>
              <a:rPr lang="en-US" altLang="ko-KR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075FBE9-872B-4311-A818-78919745C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41587" y="1463040"/>
            <a:ext cx="4595276" cy="504850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772287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공통 보안 체크리스트는 모든 심사의 선행 조건입니다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414574"/>
            <a:ext cx="9048274" cy="4686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/>
              <a:t>5대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보안성</a:t>
            </a:r>
            <a:r>
              <a:rPr dirty="0"/>
              <a:t> </a:t>
            </a:r>
            <a:r>
              <a:rPr dirty="0" err="1"/>
              <a:t>자가진단</a:t>
            </a:r>
            <a:r>
              <a:rPr dirty="0"/>
              <a:t> </a:t>
            </a:r>
            <a:r>
              <a:rPr dirty="0" err="1"/>
              <a:t>규칙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모든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심사의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최우선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선행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체크리스트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1.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개인정보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(PII):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메일주소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연락처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완벽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마스킹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2.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익명화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계약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금액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단가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마진율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제거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3.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자격증명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제거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소스코드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내 API Key, ID/PW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제거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4.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보안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가이드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준수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보안실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배포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규정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자가점검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5.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유출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위반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차단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타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망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분리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활용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시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유출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위험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제거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⚠️ Red Flag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하나라도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미준수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시 '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알림'이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대시보드에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연동되며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중대한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자격증명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즉시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불합격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대상이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됩니다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86A6EE-D6C2-0C8E-92C9-8FD8AB3EA6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149"/>
          <a:stretch>
            <a:fillRect/>
          </a:stretch>
        </p:blipFill>
        <p:spPr>
          <a:xfrm>
            <a:off x="6278962" y="2799268"/>
            <a:ext cx="5364093" cy="199384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Level에 따라 채점 축과 가중치가 달라집니다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1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370743"/>
            <a:ext cx="5120640" cy="1858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자격</a:t>
            </a:r>
            <a:r>
              <a:rPr dirty="0"/>
              <a:t> </a:t>
            </a:r>
            <a:r>
              <a:rPr dirty="0" err="1"/>
              <a:t>레벨별</a:t>
            </a:r>
            <a:r>
              <a:rPr dirty="0"/>
              <a:t> </a:t>
            </a:r>
            <a:r>
              <a:rPr dirty="0" err="1"/>
              <a:t>가중치</a:t>
            </a:r>
            <a:r>
              <a:rPr dirty="0"/>
              <a:t> 및 </a:t>
            </a:r>
            <a:r>
              <a:rPr dirty="0" err="1"/>
              <a:t>배점</a:t>
            </a:r>
            <a:r>
              <a:rPr dirty="0"/>
              <a:t> </a:t>
            </a:r>
            <a:r>
              <a:rPr dirty="0" err="1"/>
              <a:t>척도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/>
              <a:t>자격</a:t>
            </a:r>
            <a:r>
              <a:rPr sz="1400" b="1" dirty="0"/>
              <a:t> </a:t>
            </a:r>
            <a:r>
              <a:rPr sz="1400" b="1" dirty="0" err="1"/>
              <a:t>등급별</a:t>
            </a:r>
            <a:r>
              <a:rPr sz="1400" b="1" dirty="0"/>
              <a:t> </a:t>
            </a:r>
            <a:r>
              <a:rPr sz="1400" b="1" dirty="0" err="1"/>
              <a:t>평가</a:t>
            </a:r>
            <a:r>
              <a:rPr sz="1400" b="1" dirty="0"/>
              <a:t> </a:t>
            </a:r>
            <a:r>
              <a:rPr sz="1400" b="1" dirty="0" err="1"/>
              <a:t>주안점</a:t>
            </a:r>
            <a:r>
              <a:rPr sz="1400" b="1" dirty="0"/>
              <a:t> 및 </a:t>
            </a:r>
            <a:r>
              <a:rPr sz="1400" b="1" dirty="0" err="1"/>
              <a:t>비율</a:t>
            </a:r>
            <a:r>
              <a:rPr sz="1400" b="1" dirty="0"/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/>
              <a:t>• Level 3 (AI Champion): </a:t>
            </a:r>
            <a:r>
              <a:rPr sz="1400" b="1" dirty="0" err="1"/>
              <a:t>현업</a:t>
            </a:r>
            <a:r>
              <a:rPr sz="1400" b="1" dirty="0"/>
              <a:t> </a:t>
            </a:r>
            <a:r>
              <a:rPr sz="1400" b="1" dirty="0" err="1"/>
              <a:t>적용성</a:t>
            </a:r>
            <a:r>
              <a:rPr sz="1400" b="1" dirty="0"/>
              <a:t> 및 </a:t>
            </a:r>
            <a:r>
              <a:rPr sz="1400" b="1" dirty="0" err="1"/>
              <a:t>기여</a:t>
            </a:r>
            <a:r>
              <a:rPr sz="1400" b="1" dirty="0"/>
              <a:t> </a:t>
            </a:r>
            <a:r>
              <a:rPr sz="1400" b="1" dirty="0" err="1"/>
              <a:t>효과</a:t>
            </a:r>
            <a:r>
              <a:rPr sz="1400" b="1" dirty="0"/>
              <a:t> </a:t>
            </a:r>
            <a:r>
              <a:rPr sz="1400" b="1" dirty="0" err="1"/>
              <a:t>검증</a:t>
            </a:r>
            <a:endParaRPr sz="1400"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/>
              <a:t>• Level 4 (AI Specialist): </a:t>
            </a:r>
            <a:r>
              <a:rPr sz="1400" b="1" dirty="0" err="1"/>
              <a:t>심화</a:t>
            </a:r>
            <a:r>
              <a:rPr sz="1400" b="1" dirty="0"/>
              <a:t> </a:t>
            </a:r>
            <a:r>
              <a:rPr sz="1400" b="1" dirty="0" err="1"/>
              <a:t>기술력</a:t>
            </a:r>
            <a:r>
              <a:rPr sz="1400" b="1" dirty="0"/>
              <a:t> 및 </a:t>
            </a:r>
            <a:r>
              <a:rPr sz="1400" b="1" dirty="0" err="1"/>
              <a:t>보안</a:t>
            </a:r>
            <a:r>
              <a:rPr sz="1400" b="1" dirty="0"/>
              <a:t> </a:t>
            </a:r>
            <a:r>
              <a:rPr sz="1400" b="1" dirty="0" err="1"/>
              <a:t>통제</a:t>
            </a:r>
            <a:r>
              <a:rPr sz="1400" b="1" dirty="0"/>
              <a:t> </a:t>
            </a:r>
            <a:r>
              <a:rPr sz="1400" b="1" dirty="0" err="1"/>
              <a:t>깊이</a:t>
            </a:r>
            <a:r>
              <a:rPr sz="1400" b="1" dirty="0"/>
              <a:t> </a:t>
            </a:r>
            <a:r>
              <a:rPr sz="1400" b="1" dirty="0" err="1"/>
              <a:t>검증</a:t>
            </a:r>
            <a:endParaRPr sz="14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FAF8376-CEF9-7E60-707E-76ABCC90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817" y="3419856"/>
            <a:ext cx="3308532" cy="251687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A490D44-1C9E-3862-7C1E-3D3573F1C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53" y="3419856"/>
            <a:ext cx="3554991" cy="25168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점수와 의견은 반드시 같은 근거를 가리켜야 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1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19" y="1467326"/>
            <a:ext cx="5547837" cy="430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루브릭</a:t>
            </a:r>
            <a:r>
              <a:rPr dirty="0"/>
              <a:t> </a:t>
            </a:r>
            <a:r>
              <a:rPr dirty="0" err="1"/>
              <a:t>채점</a:t>
            </a:r>
            <a:r>
              <a:rPr dirty="0"/>
              <a:t> 및 </a:t>
            </a:r>
            <a:r>
              <a:rPr dirty="0" err="1"/>
              <a:t>질문은행</a:t>
            </a:r>
            <a:r>
              <a:rPr dirty="0"/>
              <a:t> </a:t>
            </a:r>
            <a:r>
              <a:rPr dirty="0" err="1"/>
              <a:t>면접</a:t>
            </a:r>
            <a:r>
              <a:rPr dirty="0"/>
              <a:t> 툴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루브릭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가이드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5단계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(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탁월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100,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양호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85,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보통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70,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미흡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50,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30)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각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항목마다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정량적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정성적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기재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⚡ Consensus Monitor (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불합치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):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배정된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간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편차가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15점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벌어질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➡️ 타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후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조율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합의문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기재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b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질문은행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도우미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(Question Bank):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유형을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선택하면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리스트와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모범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답변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준거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가이드를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자동으로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제시하여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객관성을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보장합니다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D0E13C-CA06-72C4-17AC-2CA71C61D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833"/>
          <a:stretch>
            <a:fillRect/>
          </a:stretch>
        </p:blipFill>
        <p:spPr>
          <a:xfrm>
            <a:off x="6424460" y="1450236"/>
            <a:ext cx="2733734" cy="478963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40E90AD-953F-1922-8CD8-AA6D869BD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177" y="2658073"/>
            <a:ext cx="4438878" cy="274969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제출 전 마지막 확인이 평가 품질을 좌우합니다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dirty="0"/>
              <a:t>18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19" y="1485008"/>
            <a:ext cx="6912293" cy="4474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및 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확정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전송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1.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필수값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체크박스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준수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루브릭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누락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갱신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2. 타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타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위원의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없이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진행률만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독립적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판단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3.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[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데이터베이스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4.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갱신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본인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큐로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후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'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완료'인지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b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💡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판정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3인의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패널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심사위원이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제출을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완료하는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즉시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파이어스토어에서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점수와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판정을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계산합니다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BB6DD4B-9CDD-FD6F-534A-8F908DEE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820" y="1631558"/>
            <a:ext cx="4572235" cy="105415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7B24092-4FC2-E887-B436-75F2CA45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04"/>
          <a:stretch>
            <a:fillRect/>
          </a:stretch>
        </p:blipFill>
        <p:spPr>
          <a:xfrm>
            <a:off x="7070819" y="3969289"/>
            <a:ext cx="4572235" cy="103510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문제가 생기면 상태·권한·필수값부터 확인하세요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2863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altLang="ko-KR" dirty="0"/>
              <a:t>AICA </a:t>
            </a:r>
            <a:r>
              <a:rPr lang="ko-KR" altLang="en-US" dirty="0"/>
              <a:t>자격심사 시스템 사용자 매뉴얼 </a:t>
            </a:r>
            <a:r>
              <a:rPr lang="en-US" altLang="ko-KR" dirty="0"/>
              <a:t>· </a:t>
            </a:r>
            <a:r>
              <a:rPr lang="ko-KR" altLang="en-US" dirty="0"/>
              <a:t>경영혁신실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1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19" y="1616657"/>
            <a:ext cx="9469755" cy="404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자주</a:t>
            </a:r>
            <a:r>
              <a:rPr dirty="0"/>
              <a:t> </a:t>
            </a:r>
            <a:r>
              <a:rPr dirty="0" err="1"/>
              <a:t>묻는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및 </a:t>
            </a:r>
            <a:r>
              <a:rPr dirty="0" err="1"/>
              <a:t>트러블슈팅</a:t>
            </a:r>
            <a:r>
              <a:rPr dirty="0"/>
              <a:t> </a:t>
            </a:r>
            <a:r>
              <a:rPr dirty="0" err="1"/>
              <a:t>조치법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발생하는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이슈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해결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방안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1.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실패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등록된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사용자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성명과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이메일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주소가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정확한지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대조해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보세요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(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대소문자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띄어쓰기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유의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2.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과제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등록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불가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필수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항목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이메일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과제설명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등)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누락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심사위원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3인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배정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유무를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확인하세요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3.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점수·판정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미표시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배정된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3인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패널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심사위원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현업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기술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보안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전원이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최종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제출을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마쳤는지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확인하세요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4.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자료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링크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오류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사내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보안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인트라넷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링크의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접근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권한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허용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URL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정상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동작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여부를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사전에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검토하세요</a:t>
            </a:r>
            <a: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br>
              <a:rPr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💡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전 4대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필수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체크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사항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정확한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후보자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이해상충이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없는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패널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매핑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명확한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근거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결격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r>
              <a:rPr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400" b="1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69B10-B9AE-CD7A-AB92-871BB5F8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3FCC8-BB7D-5EC6-27CC-AB5596C3A2A4}"/>
              </a:ext>
            </a:extLst>
          </p:cNvPr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B819A-CEAE-B0F2-B58D-6DF7F9FF588F}"/>
              </a:ext>
            </a:extLst>
          </p:cNvPr>
          <p:cNvSpPr txBox="1"/>
          <p:nvPr/>
        </p:nvSpPr>
        <p:spPr>
          <a:xfrm>
            <a:off x="548640" y="6309360"/>
            <a:ext cx="262283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rPr dirty="0"/>
              <a:t>AICA </a:t>
            </a:r>
            <a:r>
              <a:rPr dirty="0" err="1"/>
              <a:t>자격심사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매뉴얼</a:t>
            </a:r>
            <a:r>
              <a:rPr dirty="0"/>
              <a:t> · </a:t>
            </a:r>
            <a:r>
              <a:rPr lang="ko-KR" altLang="en-US" dirty="0"/>
              <a:t>경영혁신실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1427B-8866-2748-87E6-B95FEA2E7E3F}"/>
              </a:ext>
            </a:extLst>
          </p:cNvPr>
          <p:cNvSpPr txBox="1"/>
          <p:nvPr/>
        </p:nvSpPr>
        <p:spPr>
          <a:xfrm>
            <a:off x="11330148" y="6309360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rPr lang="en-US" dirty="0"/>
              <a:t>20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8C761-5E01-A9B6-D467-5D00F06152BE}"/>
              </a:ext>
            </a:extLst>
          </p:cNvPr>
          <p:cNvSpPr txBox="1"/>
          <p:nvPr/>
        </p:nvSpPr>
        <p:spPr>
          <a:xfrm>
            <a:off x="548640" y="1616657"/>
            <a:ext cx="11094415" cy="458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rPr lang="en-US" sz="14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End of Document</a:t>
            </a:r>
            <a:endParaRPr sz="1400" b="1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026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1993</Words>
  <Application>Microsoft Office PowerPoint</Application>
  <PresentationFormat>와이드스크린</PresentationFormat>
  <Paragraphs>228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 DongWoon</cp:lastModifiedBy>
  <cp:revision>9</cp:revision>
  <dcterms:created xsi:type="dcterms:W3CDTF">2013-01-27T09:14:16Z</dcterms:created>
  <dcterms:modified xsi:type="dcterms:W3CDTF">2026-07-21T08:59:11Z</dcterms:modified>
  <cp:category/>
</cp:coreProperties>
</file>