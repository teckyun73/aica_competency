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6217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38BDF8"/>
                </a:solidFill>
                <a:latin typeface="Noto Sans KR"/>
              </a:defRPr>
            </a:pPr>
            <a:r>
              <a:t>AICA · AI Certification for ATEC</a:t>
            </a:r>
          </a:p>
          <a:p>
            <a:pPr>
              <a:spcAft>
                <a:spcPts val="2000"/>
              </a:spcAft>
              <a:defRPr sz="4400" b="1">
                <a:solidFill>
                  <a:srgbClr val="FFFFFF"/>
                </a:solidFill>
                <a:latin typeface="Noto Sans KR"/>
              </a:defRPr>
            </a:pPr>
            <a:r>
              <a:t>자격심사 시스템</a:t>
            </a:r>
            <a:br/>
            <a:r>
              <a:t>사용자 매뉴얼</a:t>
            </a:r>
          </a:p>
          <a:p>
            <a:pPr>
              <a:defRPr sz="1800">
                <a:solidFill>
                  <a:srgbClr val="94A3B8"/>
                </a:solidFill>
                <a:latin typeface="Noto Sans KR"/>
              </a:defRPr>
            </a:pPr>
            <a:r>
              <a:t>운영간사 · 심사위원용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Noto Sans KR"/>
              </a:defRPr>
            </a:pPr>
            <a:r>
              <a:t>2026. 07</a:t>
            </a:r>
            <a:br/>
            <a:r>
              <a:t>https://aica-competency.web.app/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914400"/>
            <a:ext cx="41148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3716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  <a:defRPr sz="2800" b="1">
                <a:solidFill>
                  <a:srgbClr val="FFFFFF"/>
                </a:solidFill>
                <a:latin typeface="Noto Sans KR"/>
              </a:defRPr>
            </a:pPr>
            <a:r>
              <a:t>AICA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공정한 3인 패널 심사</a:t>
            </a:r>
          </a:p>
          <a:p>
            <a:pPr algn="ctr">
              <a:spcAft>
                <a:spcPts val="4000"/>
              </a:spcAft>
              <a:defRPr sz="1400">
                <a:solidFill>
                  <a:srgbClr val="94A3B8"/>
                </a:solidFill>
                <a:latin typeface="Noto Sans KR"/>
              </a:defRPr>
            </a:pPr>
            <a:r>
              <a:t>현업 · 기술 · 보안</a:t>
            </a:r>
          </a:p>
          <a:p>
            <a:pPr algn="ctr">
              <a:defRPr sz="1400" b="1">
                <a:solidFill>
                  <a:srgbClr val="38BDF8"/>
                </a:solidFill>
                <a:latin typeface="Noto Sans KR"/>
              </a:defRPr>
            </a:pPr>
            <a:r>
              <a:t>등록 ➔ 검토 ➔ 채점 ➔ 판정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두 역할이 이어져야 한 건의 심사가 완료됩니다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t>AICA 자격심사 시스템 사용자 매뉴얼 · Web App Dark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자격 심사 전체 워크플로우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운영간사와 심사위원 간의 원활한 업무 연계 흐름: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1단계 (과제 등록): 간사가 지원자명, 과제설명, 증빙 자료 등록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2단계 (3인 패널 배정): 현업, 기술, 보안별 심사위원 자동 매핑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3단계 (독립 심사): 각 위원이 증빙을 검증하고 5단계 평가 제출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4단계 (종합 판정): 3인 점수 평균 및 결격 검증 후 판정서 발급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💡 우측 화면: 리액트 및 클라우드 파이어스토어(Firestore) 데이터베이스 기반 실시간 평가 시스템의 전체 구조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ca_evaluation_workspace_mockup_17841679992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96596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성명과 사내 이메일로 로그인합니다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t>AICA 자격심사 시스템 사용자 매뉴얼 · Web App Dark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로그인 순서 및 계정 인증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1. 성명(ID)에 등록된 성명을 입력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2. 이메일(Password)에 사내 이메일 입력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3. 「시스템 로그인」 선택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4. 상단 역할 표시가 본인 권한인지 확인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* 입력이 없거나 일치하지 않으면 로그인 오류가 표시됩니다. 운영간사에게 등록 정보 확인을 요청하세요.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오른쪽 화면: 실제 리액트 시스템 로그인 창 및 하단 테스트 계정 정보창 캡처 화면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a__17841761019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98922"/>
            <a:ext cx="4937760" cy="29745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먼저 내 역할과 완료 조건을 확인하세요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t>AICA 자격심사 시스템 사용자 매뉴얼 · Web App Dark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사용자 역할 분리 및 완료 기준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운영간사의 핵심 임무 및 완료 조건: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신규 평가과제 및 후보자 등록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3인 패널 지정 및 이해상충 자가검증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큐·상태·점수 진척도 실시간 모니터링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완료 신호: 3인의 심사가 완료되고 최종 판정서 생성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심사위원의 핵심 임무 및 완료 조건: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제출물·시연·링크 검토 및 공통 보안 체크리스트 확인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Level 3 / Level 4 루브릭 평가 및 면접 질문 작성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완료 신호: 내 심사 상태 배지가 「완료」로 표시됨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오른쪽 화면: 실시간 진행 상황을 요약하는 관리용 대시보드 인터페이스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a__17841887986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320" y="1965960"/>
            <a:ext cx="3275038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운영간사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대시보드에서 전체 심사 현황부터 확인합니다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t>AICA 자격심사 시스템 사용자 매뉴얼 · Web App Dark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AICA 자격심사 관리 &amp; 대기 큐 구조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1. 시뮬레이션 데이터 불러오기: 가상의 테스트 데이터셋(후보자 9명 및 3인 패널 평가 결과) 복원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2. 데이터 초기화: 실무 운영 착수를 위해 전체 평가 과제 및 결과를 깨끗하게 초기화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3. 요약 지표: 전체, 완료, 진행 중, 대기 인원을 실시간 확인 (클릭 시 명단 모달 팝업)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4. 관계사 평균: 완료된 심사를 기준으로 계열사별 평균 점수를 모니터링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5. 전체 큐: 필터와 액션을 통한 개별 심사 통합 관리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💡 대시보드 우측 상단 배지를 통해 테스트 시연용 가상 데이터 복원 및 실무용 초기화를 손쉽게 제어할 수 있습니다.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오른쪽 화면: 운영간사용 메인 관리 대시보드 및 평가 큐 상세 화면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a__17841887986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320" y="1965960"/>
            <a:ext cx="3275038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운영간사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신규 과제는 필수 정보와 증빙을 한 번에 등록합니다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t>AICA 자격심사 시스템 사용자 매뉴얼 · Web App Dark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후보자 정보 및 증빙 링크 등록 폼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01 지원자 정보: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성명, 사내 이메일, 소속 관계사/부서, 자격 레벨(L3/L4), 과제 유형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02 과제 내용 및 6S 요약: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평가 대상 과제명, Pain Point, AI 해결 방안, 핵심 기대효과 기술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03 증빙 파일 링크 등록: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디렉토리 구조 요약, 결과 보고서 PDF 주소, Git 소스코드 저장소, 시연 동영상 URL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오른쪽 화면: 수동 과제 등록 및 패널 배정 기능이 활성화되는 대시보드 화면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a__17841887986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320" y="1965960"/>
            <a:ext cx="3275038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운영간사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패널은 전문분야별 1인씩, 이해상충 없이 배정합니다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t>AICA 자격심사 시스템 사용자 매뉴얼 · Web App Dark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심사 위원회 패널 구성 및 최적 추천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1. 현업·사업성 위원 (가치성 검증): 업무 프로세스 개선율 및 사업 효과성 채점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2. AI·기술 위원 (구현성 검증): 기술적 난이도 및 구현 완성도 채점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3. 보안·거버넌스 위원 (신뢰성 검증): 데이터 활용 보안 및 내부 가이드 채점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⚡ 최적 패널 자동 추천 로직: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피평가자와 동일한 사명 소속 위원을 자동 배제하여 후보군을 우선 순위 정렬합니다.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⚠️ 간사가 위원을 직접 수동 선택하는 경우, 소속이 일치하는 위원 옆에는 빨간색 [이해상충 주의] 레이블이 노출됩니다.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오른쪽 화면: 대시보드 우측의 위원 배정 큐 영역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a__17841887986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320" y="1965960"/>
            <a:ext cx="3275038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운영간사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필터와 상태값으로 병목을 빠르게 찾습니다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t>AICA 자격심사 시스템 사용자 매뉴얼 · Web App Dark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진행 상태 분기 및 필터 모니터링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통합 대기 큐 및 필터 시스템 활용법: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필터 종류: 관계사별, 인증 레벨별, 평가 진행 상태별 필터 제공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1. 평가대기: 패널 배정 완료 후 아직 위원이 채점을 시작하지 않음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2. 심사중: 1명 이상의 위원이 부분 채점을 기록하거나 제출함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3. 완료: 3인 패널이 모두 최종 평가를 제출하여 종합 평균이 집계됨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4. 보고서 보기: [결과 보기] 액션 버튼을 눌러 종합판정서 조회 및 인쇄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💡 팁: '타 위원 진척도' 항목에서 실시간 배지 도트를 확인해 미제출 위원을 즉시 판별할 수 있습니다.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오른쪽 화면: 간사용 대기 큐 필터 및 위원 진척 표시 영역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a__17841887986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320" y="1965960"/>
            <a:ext cx="3275038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운영간사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3인 제출 후 종합판정서가 완성됩니다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t>AICA 자격심사 시스템 사용자 매뉴얼 · Web App Dark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종합판정 보고서 발급 및 명패 동기화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종합판정서 구성 항목 및 검증 가이드: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지원자 기본 정보 및 종합 평균 점수 시각화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3인 배정 위원의 세부 루브릭 채점 점수 및 종합 정성 평가 의견 노출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하단 서명란: 배정된 실제 심사위원 성명으로 명패 자동 변경 완료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출력 최적화: [결과 보고서 인쇄 (PDF)] 버튼을 클릭하여 A4 최적화 보고서 출력 및 사내 공유용 저장 가능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⚠️ 결격 사유 발생 시: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표절, 중요 기밀 및 API Key 노출 등이 발견되어 결격 처리된 경우, 평균 점수가 70점 이상이어도 최종 판정은 '불합격' 처리됩니다.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오른쪽 화면: 서명이 실제 심사위원 성명으로 연동된 결과 보고서 하단부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a__17845962875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982" y="1965960"/>
            <a:ext cx="3893714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심사위원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내 배정 과제 큐에서 심사 우선순위를 잡습니다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t>AICA 자격심사 시스템 사용자 매뉴얼 · Web App Dark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심사 위원 배정 큐 모니터링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심사위원 전용 배정 과제 리스트 가이드: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성명 및 이메일 로그인 시, 본인이 패널로 등록된 평가 과제만 화면에 정렬됩니다.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테이블 컬럼: 지원자 정보, 소속 법인/부서, 자격 인증 레벨, 내 평가 진행 현황(대기/완료), 타 위원 제출 진척 상태 배지 표시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[심사하기/수정]: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채점을 시작하거나 이미 제출한 내용을 재조정할 때 버튼을 선택해 작업장(Workspace)으로 진입합니다.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오른쪽 화면: 실제 심사위원이 접하는 과제 목록 테이블 영역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a__17841769024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049" y="1965960"/>
            <a:ext cx="43855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심사위원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채점 전에 제출물의 연결성과 재현 가능성을 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t>AICA 자격심사 시스템 사용자 매뉴얼 · Web App Dark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3대 증빙 자료 다차원 교차 검증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제출물 상세 탭(Tab) 활용 방식: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보고서 요약 (Tab 1): 과제 제안 배경 및 Pain Point 극복 방안, 6S 요약 검토 (문제-해결-기대효과의 논리적 일관성 체크)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소스코드 구조 (Tab 2): 디렉토리 트리 구조, 라이브러리 구성 및 API Key 노출 방지 대책 검토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시연·링크 (Tab 3): 결과 보고서 PDF 원본, Git 저장소 주소, 구동 동영상 링크 유효성 검증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💡 소스코드 및 구동 영상 링크가 손상되었을 경우 정성 의견란에 구체적인 비작동 사유를 기재해 주세요.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오른쪽 화면: 실제 심사 작업장 좌측의 3단 증빙 자료 리더(Reader)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ca_evaluation_workspace_mockup_17841679992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96596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심사위원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공통 보안 체크리스트는 모든 심사의 선행 조건입니다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t>AICA 자격심사 시스템 사용자 매뉴얼 · Web App Dark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5대 공통 보안성 자가진단 규칙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모든 심사의 최우선 선행 체크리스트: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1. 개인정보(PII): 이름, 메일주소, 연락처 등 완벽 마스킹 여부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2. 기밀 정보 익명화: 계약 금액, 단가, 마진율 등 기밀 제거 여부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3. 자격증명 제거: 소스코드 내 API Key, ID/PW 제거 여부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4. 보안 가이드 준수: 보안실 배포 규정 및 자가점검 여부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5. 유출 위반 차단: 타 부서 및 망 분리 활용 시 유출 위험 제거 여부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⚠️ Red Flag 경고 연동: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하나라도 미준수 시 '보안 주의 알림'이 대시보드에 연동되며, 중대한 자격증명 노출은 즉시 불합격 처리 대상이 됩니다.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오른쪽 화면: 실제 채점 페이지 좌측 하단 보안 체크리스트 영역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a__17841769024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049" y="1965960"/>
            <a:ext cx="43855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심사위원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Level에 따라 채점 축과 가중치가 달라집니다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t>AICA 자격심사 시스템 사용자 매뉴얼 · Web App Dark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심사 자격 레벨별 가중치 및 배점 척도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자격 등급별 평가 주안점 및 비율: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Level 3 (AI Champion): 현업 적용성 및 기여 효과 검증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   - 문제 해결 난이도 (30%)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   - 구현 완성도 (40%)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   - 확산 및 자산화 (30%)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Level 4 (AI Specialist): 심화 기술력 및 보안 통제 깊이 검증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   - 기술적 구현력 (40%)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   - 데이터 활용 및 보안성 (30%)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   - 비즈니스 기여도 (30%)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오른쪽 화면: 실제 채점 페이지 우측의 루브릭 점수 선택 라디오 영역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a__17841769024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049" y="1965960"/>
            <a:ext cx="43855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심사위원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점수와 의견은 반드시 같은 근거를 가리켜야 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t>AICA 자격심사 시스템 사용자 매뉴얼 · Web App Dark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세부 루브릭 채점 및 질문은행 면접 툴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루브릭 세부 채점 가이드: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5단계 등급 선택: (탁월 100, 양호 85, 보통 70, 미흡 50, 부족 30)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각 항목마다 정량적/정성적 등급 부여 사유 필수 기재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⚡ Consensus Monitor (의견 불합치 방지):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동시 배정된 위원 간 평가 편차가 15점 이상 벌어질 경우 경고 알림 노출 ➡️ 타 위원 의견 수렴 후 조율 합의문 기재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질문은행 도우미 (Question Bank):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지원자 과제 유형을 선택하면 면접 질문 리스트와 모범 답변 준거 가이드를 자동으로 제시하여 객관성을 보장합니다.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오른쪽 화면: 실제 5단계 루브릭 행 카드 및 우측 하단 질문은행 패널 렌더링 화면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ca_evaluation_workspace_mockup_17841679992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96596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심사위원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제출 전 마지막 확인이 평가 품질을 좌우합니다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t>AICA 자격심사 시스템 사용자 매뉴얼 · Web App Dark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평가 최종 검토 및 제출 확정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평가 완료 및 전송 단계: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1. 필수값 체크: 보안 체크박스 준수, 루브릭 점수 선택, 세부 의견 누락 여부 최종 갱신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2. 타 위원 상태 검토: 타 위원의 점수 노출 없이 평가 진행률만 확인(독립적 판단 견지)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3. 평가 제출: [평가 완료 및 제출] 버튼을 선택해 데이터베이스 기록 완료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4. 상태 갱신 검증: 본인 대기 큐로 복귀 후 해당 과제 상태가 '완료'인지 확인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💡 최종 판정 계산: 3인의 패널 심사위원이 최종 제출을 모두 완료하는 즉시 파이어스토어에서 평균 점수와 판정을 계산합니다.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오른쪽 화면: 실제 채점 입력창 하단의 저장 및 최종 제출 영역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a__17841769024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049" y="1965960"/>
            <a:ext cx="43855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Noto Sans KR"/>
              </a:defRPr>
            </a:pPr>
            <a:r>
              <a:t>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문제가 생기면 상태·권한·필수값부터 확인하세요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Noto Sans KR"/>
              </a:defRPr>
            </a:pPr>
            <a:r>
              <a:t>AICA 자격심사 시스템 사용자 매뉴얼 · Web App Dark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Noto Sans KR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Noto Sans KR"/>
              </a:defRPr>
            </a:pPr>
            <a:r>
              <a:t>자주 묻는 질문 및 트러블슈팅 조치법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자주 발생하는 이슈 해결 방안: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1. 로그인 실패: 등록된 사용자 성명과 사내 이메일 주소가 정확한지 대조해 보세요. (대소문자 및 띄어쓰기 유의)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2. 과제 등록 불가: 필수 항목(성명, 이메일, 과제설명 등) 누락 여부 및 심사위원 3인 배정 유무를 확인하세요.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3. 점수·판정 미표시: 배정된 3인 패널 심사위원(현업, 기술, 보안) 전원이 최종 제출을 마쳤는지 확인하세요.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• 4. 자료 링크 오류: 사내 보안 인트라넷 링크의 접근 권한 허용 여부 및 URL 정상 동작 여부를 사전에 검토하세요.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💡 완료 전 4대 필수 체크 사항: 정확한 후보자 정보, 이해상충이 없는 패널 매핑, 명확한 평가 근거 작성, 보안 결격 검증 완료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Noto Sans KR"/>
              </a:defRPr>
            </a:pPr>
            <a:r>
              <a:t>오른쪽 화면: 실제 리액트 로그인 오류 배지 렌더링 화면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a__17841761019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98922"/>
            <a:ext cx="4937760" cy="29745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