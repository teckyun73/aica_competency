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0066CC"/>
                </a:solidFill>
                <a:latin typeface="Noto Sans KR"/>
              </a:defRPr>
            </a:pPr>
            <a:r>
              <a:t>AICA · AI Certification for ATEC</a:t>
            </a:r>
          </a:p>
          <a:p>
            <a:pPr>
              <a:spcAft>
                <a:spcPts val="2000"/>
              </a:spcAft>
              <a:defRPr sz="4400" b="1">
                <a:solidFill>
                  <a:srgbClr val="1D1D1F"/>
                </a:solidFill>
                <a:latin typeface="Noto Sans KR"/>
              </a:defRPr>
            </a:pPr>
            <a:r>
              <a:t>자격심사 시스템</a:t>
            </a:r>
            <a:br/>
            <a:r>
              <a:t>사용자 매뉴얼</a:t>
            </a:r>
          </a:p>
          <a:p>
            <a:pPr>
              <a:defRPr sz="1800">
                <a:solidFill>
                  <a:srgbClr val="86868B"/>
                </a:solidFill>
                <a:latin typeface="Noto Sans KR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2026. 07</a:t>
            </a:r>
            <a:br/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914400"/>
            <a:ext cx="4114800" cy="5029200"/>
          </a:xfrm>
          <a:prstGeom prst="round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2800" b="1">
                <a:solidFill>
                  <a:srgbClr val="FFFFFF"/>
                </a:solidFill>
                <a:latin typeface="Noto Sans KR"/>
              </a:defRPr>
            </a:pPr>
            <a:r>
              <a:t>AICA</a:t>
            </a:r>
          </a:p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Noto Sans KR"/>
              </a:defRPr>
            </a:pPr>
            <a:r>
              <a:t>공정한 3인 패널 심사</a:t>
            </a:r>
          </a:p>
          <a:p>
            <a:pPr algn="ctr">
              <a:spcAft>
                <a:spcPts val="4000"/>
              </a:spcAft>
              <a:defRPr sz="1400">
                <a:solidFill>
                  <a:srgbClr val="86868B"/>
                </a:solidFill>
                <a:latin typeface="Noto Sans KR"/>
              </a:defRPr>
            </a:pPr>
            <a:r>
              <a:t>현업 · 기술 · 보안</a:t>
            </a:r>
          </a:p>
          <a:p>
            <a:pPr algn="ctr">
              <a:defRPr sz="1400" b="1">
                <a:solidFill>
                  <a:srgbClr val="0066CC"/>
                </a:solidFill>
                <a:latin typeface="Noto Sans KR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D1D1F"/>
                </a:solidFill>
                <a:latin typeface="Noto Sans KR"/>
              </a:defRPr>
            </a:pPr>
            <a:r>
              <a:t>운영간사는 정확한 등록과 배정을, 심사위원은 독립적인 검토와 제출을 책임집니다.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200400"/>
            <a:ext cx="9418320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54480" y="27432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49039"/>
            <a:ext cx="26517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D1D1F"/>
                </a:solidFill>
                <a:latin typeface="Noto Sans KR"/>
              </a:defRPr>
            </a:pPr>
            <a:r>
              <a:t>과제 등록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지원자·과제·증빙 링크를 입력합니다.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27432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749039"/>
            <a:ext cx="26517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D1D1F"/>
                </a:solidFill>
                <a:latin typeface="Noto Sans KR"/>
              </a:defRPr>
            </a:pPr>
            <a:r>
              <a:t>3인 패널 배정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현업·기술·보안 각 1인을 지정합니다.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0" y="27432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26517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D1D1F"/>
                </a:solidFill>
                <a:latin typeface="Noto Sans KR"/>
              </a:defRPr>
            </a:pPr>
            <a:r>
              <a:t>독립 심사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자료·보안·루브릭을 확인하고 점수를 제출합니다.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0" y="27432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3749039"/>
            <a:ext cx="26517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D1D1F"/>
                </a:solidFill>
                <a:latin typeface="Noto Sans KR"/>
              </a:defRPr>
            </a:pPr>
            <a:r>
              <a:t>종합 판정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3인 제출 후 평균과 판정서를 확인합니다.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로그인 순서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1. 성명(ID)에 등록된 성명을 입력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2. 이메일(Password)에 사내 이메일 입력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3. 「시스템 로그인」 선택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* 입력이 없거나 일치하지 않으면 로그인 오류가 표시됩니다. 운영간사에게 등록 정보 확인을 요청하세요.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오른쪽 화면: 실제 리액트 시스템 로그인 창 캡처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정확한 심사 건을 만들고 흐름을 관리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신규 평가과제 등록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현업·기술·보안 패널 지정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이해상충 여부 확인 및 조정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큐·상태·점수 진척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최종 보고서 확인 및 인쇄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[완료 신호] 3인의 심사가 모두 제출되고 종합 판정이 표시됨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심사위원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배정된 과제를 근거에 따라 독립 평가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제출물·시연·링크 검토 및 재현성 검증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공통 보안 체크리스트 확인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Level 3 / Level 4 루브릭 채점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평가 의견 및 질문 면접 기록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위원 간 점수 편차 확인 후 최종 제출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[완료 신호] 내 심사 상태가 「심사완료」로 표시됨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AICA 자격심사 관리 &amp; 대기 큐 구조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1. 요약 지표: 전체, 완료, 진행 중, 대기 인원을 실시간 확인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2. 관계사 평균: 완료된 심사를 기준으로 계열사별 평균 점수를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3. 평가 기준: L3/L4 가중치와 치명적 결격 기준을 확인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4. 전체 큐: 필터와 액션을 통한 개별 심사 통합 관리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💡 명단 보기 기능: 각 지표(통계 카드) 클릭 시 해당 대상자 목록을 모달 팝업으로 즉시 확인할 수 있습니다.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오른쪽 화면: 운영간사용 메인 관리 대시보드 및 평가 큐 상세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114800"/>
          </a:xfrm>
          <a:prstGeom prst="roundRect">
            <a:avLst/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66CC"/>
                </a:solidFill>
                <a:latin typeface="Noto Sans KR"/>
              </a:defRPr>
            </a:pPr>
            <a:r>
              <a:t>01 지원자 정보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성명 및 사내 이메일 주소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소속 관계사 및 부서명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자격 인증 레벨 (Level 3 / 4)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과제 유형 선택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* 유형 예시:</a:t>
            </a:r>
            <a:br/>
            <a:r>
              <a:t>RAG/챗봇, 데이터분석, 웹/앱, 업무자동화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02 과제 내용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평가 대상 과제명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Pain Point (기존 업무의 비효율)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AI 해결 방안 (알고리즘 및 핵심 로직)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6S 기준 보고서 핵심 요약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* 주의:</a:t>
            </a:r>
            <a:br/>
            <a:r>
              <a:t>문제, 해결, 기대효과가 유기적으로 연결되도록 작성합니다.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03 증빙 링크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선택 입력 항목: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소스코드 디렉토리 구조 요약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결과 보고서 PDF 문서 주소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Git 소스코드 저장소 주소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시연 동영상 URL 주소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⚠️ 심사위원이 접근 가능한 사내 링크인지 등록 전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D1D1F"/>
                </a:solidFill>
                <a:latin typeface="Noto Sans KR"/>
              </a:defRPr>
            </a:pPr>
            <a:r>
              <a:t>「최적 패널 자동 추천」은 동일 관계사 소속을 우선 배제해 심사위원 후보를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0066CC"/>
                </a:solidFill>
                <a:latin typeface="Noto Sans KR"/>
              </a:defRPr>
            </a:pPr>
            <a:r>
              <a:t>1</a:t>
            </a:r>
          </a:p>
          <a:p>
            <a:pPr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1. 현업·사업성 위원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업무 해결 문제의 가치와 비즈니스 효과성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28600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0066CC"/>
                </a:solidFill>
                <a:latin typeface="Noto Sans KR"/>
              </a:defRPr>
            </a:pPr>
            <a:r>
              <a:t>2</a:t>
            </a:r>
          </a:p>
          <a:p>
            <a:pPr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2. AI·기술 위원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AI 알고리즘 수준, 코드 품질 및 구현 완성도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228600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FF453A"/>
                </a:solidFill>
                <a:latin typeface="Noto Sans KR"/>
              </a:defRPr>
            </a:pPr>
            <a:r>
              <a:t>3</a:t>
            </a:r>
          </a:p>
          <a:p>
            <a:pPr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3. 보안·거버넌스 위원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데이터 보안, 사내 가이드 준수 및 통제 적합성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94415" cy="548640"/>
          </a:xfrm>
          <a:prstGeom prst="roundRect">
            <a:avLst/>
          </a:prstGeom>
          <a:solidFill>
            <a:srgbClr val="F5F5F7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1F"/>
                </a:solidFill>
                <a:latin typeface="Noto Sans KR"/>
              </a:defRPr>
            </a:pPr>
            <a:r>
              <a:t>⚠️ 주의: 패널 3인을 모두 지정해야 등록할 수 있습니다. 피평가자와 같은 관계사 소속 위원은 셀렉트 박스 내부의 「이해상충 주의」 표시를 확인하세요.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solidFill>
            <a:srgbClr val="F5F5F7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66CC"/>
                </a:solidFill>
                <a:latin typeface="Noto Sans KR"/>
              </a:defRPr>
            </a:pPr>
            <a:r>
              <a:t>  필터:  관계사 | 인증 레벨 | 상태                                             찾은 뒤 「액션」에서 보고서를 엽니다.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86868B"/>
                </a:solidFill>
                <a:latin typeface="Noto Sans KR"/>
              </a:defRPr>
            </a:pPr>
            <a:r>
              <a:t>1</a:t>
            </a:r>
          </a:p>
          <a:p>
            <a:pPr>
              <a:spcAft>
                <a:spcPts val="800"/>
              </a:spcAft>
              <a:defRPr sz="1400" b="1">
                <a:solidFill>
                  <a:srgbClr val="1D1D1F"/>
                </a:solidFill>
                <a:latin typeface="Noto Sans KR"/>
              </a:defRPr>
            </a:pPr>
            <a:r>
              <a:t>1. 평가대기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패널 배정 후 아직 심사위원의 심사가 시작되지 않은 상태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0066CC"/>
                </a:solidFill>
                <a:latin typeface="Noto Sans KR"/>
              </a:defRPr>
            </a:pPr>
            <a:r>
              <a:t>2</a:t>
            </a:r>
          </a:p>
          <a:p>
            <a:pPr>
              <a:spcAft>
                <a:spcPts val="800"/>
              </a:spcAft>
              <a:defRPr sz="1400" b="1">
                <a:solidFill>
                  <a:srgbClr val="1D1D1F"/>
                </a:solidFill>
                <a:latin typeface="Noto Sans KR"/>
              </a:defRPr>
            </a:pPr>
            <a:r>
              <a:t>2. 심사중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1명 이상의 심사위원이 심사를 진행하거나 점수를 제출한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30D158"/>
                </a:solidFill>
                <a:latin typeface="Noto Sans KR"/>
              </a:defRPr>
            </a:pPr>
            <a:r>
              <a:t>3</a:t>
            </a:r>
          </a:p>
          <a:p>
            <a:pPr>
              <a:spcAft>
                <a:spcPts val="800"/>
              </a:spcAft>
              <a:defRPr sz="1400" b="1">
                <a:solidFill>
                  <a:srgbClr val="1D1D1F"/>
                </a:solidFill>
                <a:latin typeface="Noto Sans KR"/>
              </a:defRPr>
            </a:pPr>
            <a:r>
              <a:t>3. 완료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3인 패널 전원의 제출과 종합 점수 집계가 완료된 상태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560320"/>
            <a:ext cx="256032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1D1D1F"/>
                </a:solidFill>
                <a:latin typeface="Noto Sans KR"/>
              </a:defRPr>
            </a:pPr>
            <a:r>
              <a:t>4</a:t>
            </a:r>
          </a:p>
          <a:p>
            <a:pPr>
              <a:spcAft>
                <a:spcPts val="800"/>
              </a:spcAft>
              <a:defRPr sz="1400" b="1">
                <a:solidFill>
                  <a:srgbClr val="1D1D1F"/>
                </a:solidFill>
                <a:latin typeface="Noto Sans KR"/>
              </a:defRPr>
            </a:pPr>
            <a:r>
              <a:t>4. 보고서 보기</a:t>
            </a:r>
          </a:p>
          <a:p>
            <a:pPr>
              <a:defRPr sz="1100">
                <a:solidFill>
                  <a:srgbClr val="86868B"/>
                </a:solidFill>
                <a:latin typeface="Noto Sans KR"/>
              </a:defRPr>
            </a:pPr>
            <a:r>
              <a:t>개별 점수, 평균, 최종 판정, 심사 의견 보고서 확인 및 인쇄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453A"/>
                </a:solidFill>
                <a:latin typeface="Noto Sans KR"/>
              </a:defRPr>
            </a:pPr>
            <a:r>
              <a:t>💡 팁: 점수나 판정이 비어 있으면 먼저 대시보드의 「타 위원 진척도」 배지에서 미제출 위원이 누구인지 실시간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종합판정서 구성 항목 및 기준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1. 심사 대상자 기본 정보 (소속 법인, 부서, 직위, 성명)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2. 최종 심사 판정 요약 (종합 평균 점수 및 판정 결과)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3. 심사위원별 세부 채점표 (5단계 루브릭 점수 이력)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4. 심사위원별 종합 평가 의견 (정성 평가 작성값)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5. 심사위원회 현업/기술/보안 위원 최종 확인란 (서명 연동)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합격 기준: 종합 평균 70점 이상 (시스템 표시 기준)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결격 우선: 표절·도용, 중요 API Key 노출 등 치명적 결격 사유 기록 시 점수와 상관없이 최종 불합격 처리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오른쪽 화면: 실제 배정된 심사위원들의 서명 명패가 실시간 연동된 종합판정서 출력 뷰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596287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982" y="1965960"/>
            <a:ext cx="389371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배정 과제 확인 및 심사 착수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한 행(Row)에서 전체 데이터 확인: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지원자 인적사항 및 관계사/부서 정보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인증 레벨 (Level 3 또는 Level 4)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내 심사 상태 (대기 / 심사완료)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타 위원 진척도 (패널 위원별 완료 상태 실시간 도트 모니터링)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[심사 시작]: 심사하고자 하는 과제의 우측 [심사하기] 버튼 선택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[심사 수정]: 이미 제출한 평가를 다시 검토·수정해야 할 때 재진입하여 수정 후 임시저장/제출 가능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오른쪽 화면: 실제 배정된 심사위원들이 보는 과제 대기 큐 및 타 위원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보고서 요약 (Tab 1)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과제 제안명 확인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Pain Point 분석의 실효성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AI Solution 구성도 및 설명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6S 기준 요약 정밀 검토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💡 문제 ➔ 해결 ➔ 효과의 인과관계가 매끄럽게 연결되는지 인과성을 확인합니다.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74720" cy="4114800"/>
          </a:xfrm>
          <a:prstGeom prst="roundRect">
            <a:avLst/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66CC"/>
                </a:solidFill>
                <a:latin typeface="Noto Sans KR"/>
              </a:defRPr>
            </a:pPr>
            <a:r>
              <a:t>소스코드 구조 (Tab 2)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리포지토리 폴더 디렉토리 구조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패키지 라이브러리 잠금 파일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환경 변수 구성 방식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예외처리 및 재현 가이드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⚠️ API Key나 내부 계정 정보 등 비밀 자격증명이 코드에 방치되어 있는지 반드시 조사합니다.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11680"/>
            <a:ext cx="31089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시연·링크 (Tab 3)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제출된 URL 유효성 검증: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결과 보고서 PDF 링크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Git 저장소 링크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시연 동영상 URL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* 권한 오류나 깨진 링크가 발생한 경우, 평가 의견란에 내용을 구체적으로 기록합니다.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1094415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066CC"/>
                </a:solidFill>
                <a:latin typeface="Noto Sans KR"/>
              </a:rPr>
              <a:t>  [1. 개인정보(PII)]  </a:t>
            </a:r>
            <a:r>
              <a:rPr sz="1100">
                <a:solidFill>
                  <a:srgbClr val="1D1D1F"/>
                </a:solidFill>
                <a:latin typeface="Noto Sans KR"/>
              </a:rPr>
              <a:t>이름, 전화번호, 이메일 주소 등 고객 및 개인 정보가 마스킹되었는가?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14600"/>
            <a:ext cx="11094415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066CC"/>
                </a:solidFill>
                <a:latin typeface="Noto Sans KR"/>
              </a:rPr>
              <a:t>  [2. 기밀 정보 익명화]  </a:t>
            </a:r>
            <a:r>
              <a:rPr sz="1100">
                <a:solidFill>
                  <a:srgbClr val="1D1D1F"/>
                </a:solidFill>
                <a:latin typeface="Noto Sans KR"/>
              </a:rPr>
              <a:t>계약 금액, 단가, 마진율, 미공개 코드명 및 사내 기밀 정보가 익명화되었는가?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11094415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066CC"/>
                </a:solidFill>
                <a:latin typeface="Noto Sans KR"/>
              </a:rPr>
              <a:t>  [3. 접속 자격증명 제거]  </a:t>
            </a:r>
            <a:r>
              <a:rPr sz="1100">
                <a:solidFill>
                  <a:srgbClr val="1D1D1F"/>
                </a:solidFill>
                <a:latin typeface="Noto Sans KR"/>
              </a:rPr>
              <a:t>API Key, 서비스 계정 Key, DB 접속 정보(ID/PW)가 소스코드 및 문서에서 완벽히 제거되었는가?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59"/>
            <a:ext cx="11094415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066CC"/>
                </a:solidFill>
                <a:latin typeface="Noto Sans KR"/>
              </a:rPr>
              <a:t>  [4. 사내 보안 가이드라인 준수]  </a:t>
            </a:r>
            <a:r>
              <a:rPr sz="1100">
                <a:solidFill>
                  <a:srgbClr val="1D1D1F"/>
                </a:solidFill>
                <a:latin typeface="Noto Sans KR"/>
              </a:rPr>
              <a:t>보안 부서 배포 가이드라인 및 개발 보안 자가점검표 기준을 성실히 준수했는가?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20640"/>
            <a:ext cx="11094415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100">
                <a:solidFill>
                  <a:srgbClr val="0066CC"/>
                </a:solidFill>
                <a:latin typeface="Noto Sans KR"/>
              </a:rPr>
              <a:t>  [5. 유출 방지 및 연동 안정성]  </a:t>
            </a:r>
            <a:r>
              <a:rPr sz="1100">
                <a:solidFill>
                  <a:srgbClr val="1D1D1F"/>
                </a:solidFill>
                <a:latin typeface="Noto Sans KR"/>
              </a:rPr>
              <a:t>타 부서 및 망 분리 환경 등 확장 사용 시 기밀 유출 위험이 없는가?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453A"/>
                </a:solidFill>
                <a:latin typeface="Noto Sans KR"/>
              </a:defRPr>
            </a:pPr>
            <a:r>
              <a:t>⚠️ 중요: 중대한 보안 위반 노출(API Key 방치 등)은 단순 감점이 아닌 불합격 결격사유에 해당합니다.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66CC"/>
                </a:solidFill>
                <a:latin typeface="Noto Sans KR"/>
              </a:defRPr>
            </a:pPr>
            <a:r>
              <a:t>Level 3 · AI Champion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현업 적용성과 업무 보급 가능성을 중심으로 검증합니다.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문제 해결 난이도 (가중치 30%)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구현 완성도 (가중치 40%)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확산 및 자산화 가능성 (가중치 30%)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💡 현업 현장의 수동 공수 감소 가치와 6개 관계사 전파 확장성을 중점적으로 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Level 4 · AI Specialist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고급 구현 기술력과 데이터·보안 통제의 깊이를 평가합니다.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기술적 구현력 (가중치 40%)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데이터 활용 및 보안성 (가중치 30%)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비즈니스 기여도 (가중치 30%)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💡 LLM, RAG 등 심화 AI 기능 구현도 및 오차 제어 정교함, 명확한 정량적 효과(ROI)를 평가합니다.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루브릭 채점 및 질문은행 활용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루브릭 평가: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라디오 카드를 클릭하여 5단계 중 평가 수준을 선택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각 채점 항목별 정성적 의견 필수 기재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편차 모니터링: 패널 위원 간 점수 차이가 15점 이상 시 조율 알림 노출 -&gt; 합의 조율 의견 추가 작성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질문은행 도우미 (Question Bank):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과제 분류에 매핑되는 심사 질문 목록 검색 제공</a:t>
            </a:r>
          </a:p>
          <a:p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• 질문의 숨은 의도 및 고득점/저득점 판단 가이드라인 제공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1D1D1F"/>
                </a:solidFill>
                <a:latin typeface="Noto Sans KR"/>
              </a:defRPr>
            </a:pPr>
            <a:r>
              <a:t>오른쪽 화면: 실제 5단계 루브릭 행 카드 및 우측 하단 질문은행 패널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418320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46888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필수 항목 확인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보안 체크, 루브릭 점수, 세부 의견 누락 유무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246888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4747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타 위원 상태 확인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타 위원의 점수 노출 없이 제출 상태만 확인하여 독립성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6888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평가 제출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[평가 완료 및 제출] 버튼을 눌러 데이터베이스 기록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246888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Noto Sans KR"/>
              </a:defRPr>
            </a:pPr>
            <a: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4747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1D1D1F"/>
                </a:solidFill>
                <a:latin typeface="Noto Sans KR"/>
              </a:defRPr>
            </a:pPr>
            <a:r>
              <a:t>완료 상태 확인</a:t>
            </a:r>
          </a:p>
          <a:p>
            <a:pPr algn="ctr">
              <a:defRPr sz="1100">
                <a:solidFill>
                  <a:srgbClr val="86868B"/>
                </a:solidFill>
                <a:latin typeface="Noto Sans KR"/>
              </a:defRPr>
            </a:pPr>
            <a:r>
              <a:t>개인 대기 큐에서 해당 지원자의 내 심사 상태가 [완료]인지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F5F5F7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1F"/>
                </a:solidFill>
                <a:latin typeface="Noto Sans KR"/>
              </a:defRPr>
            </a:pPr>
            <a:r>
              <a:t>💡 안내: 수정이 필요하면 [심사하기/수정]으로 재진입해 수정할 수 있습니다. 최종 종합 판정은 패널 3인의 제출이 모두 끝나야 실시간 집계됩니다.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CC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1D1F"/>
                </a:solidFill>
                <a:latin typeface="Noto Sans KR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DADA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6868B"/>
                </a:solidFill>
                <a:latin typeface="Noto Sans KR"/>
              </a:defRPr>
            </a:pPr>
            <a:r>
              <a:t>AICA 자격심사 시스템 사용자 매뉴얼 · Apple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6868B"/>
                </a:solidFill>
                <a:latin typeface="Noto Sans KR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011680" cy="822960"/>
          </a:xfrm>
          <a:prstGeom prst="roundRect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Noto Sans KR"/>
              </a:defRPr>
            </a:pPr>
            <a:r>
              <a:t>로그인 실패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645920"/>
            <a:ext cx="89912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1D1D1F"/>
                </a:solidFill>
                <a:latin typeface="Noto Sans KR"/>
              </a:defRPr>
            </a:pPr>
            <a:r>
              <a:t>  등록된 사용자 성명과 사내 이메일 주소가 정확한지 대조해 보세요. (대소문자 및 띄어쓰기 유의)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2011680" cy="82296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Noto Sans KR"/>
              </a:defRPr>
            </a:pPr>
            <a:r>
              <a:t>과제 등록 불가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651760"/>
            <a:ext cx="89912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1D1D1F"/>
                </a:solidFill>
                <a:latin typeface="Noto Sans KR"/>
              </a:defRPr>
            </a:pPr>
            <a:r>
              <a:t>  필수 항목(성명, 이메일, 과제설명 등) 누락 여부 및 심사위원 3인 배정 유무를 확인하세요.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2011680" cy="82296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Noto Sans KR"/>
              </a:defRPr>
            </a:pPr>
            <a:r>
              <a:t>점수·판정 미표시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3657600"/>
            <a:ext cx="89912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1D1D1F"/>
                </a:solidFill>
                <a:latin typeface="Noto Sans KR"/>
              </a:defRPr>
            </a:pPr>
            <a:r>
              <a:t>  배정된 3인 패널 심사위원(현업, 기술, 보안) 전원이 최종 제출을 마쳤는지 확인하세요.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63440"/>
            <a:ext cx="2011680" cy="822960"/>
          </a:xfrm>
          <a:prstGeom prst="roundRect">
            <a:avLst/>
          </a:prstGeom>
          <a:solidFill>
            <a:srgbClr val="8686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Noto Sans KR"/>
              </a:defRPr>
            </a:pPr>
            <a:r>
              <a:t>자료 링크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4663440"/>
            <a:ext cx="8991295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1D1D1F"/>
                </a:solidFill>
                <a:latin typeface="Noto Sans KR"/>
              </a:defRPr>
            </a:pPr>
            <a:r>
              <a:t>  사내 보안 인트라넷 링크의 접근 권한 허용 여부 및 URL 정상 동작 여부를 사전에 검토하세요.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66CC"/>
                </a:solidFill>
                <a:latin typeface="Noto Sans KR"/>
              </a:defRPr>
            </a:pPr>
            <a:r>
              <a:t>완료 전 4가지 확인 사항:  정확한 정보  ·  이해상충 없는 패널  ·  근거 있는 평가  ·  보안 결격 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